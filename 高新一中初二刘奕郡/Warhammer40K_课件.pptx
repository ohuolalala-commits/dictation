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0E1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CFA3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8695958" y="5190556"/>
            <a:ext cx="38100" cy="38100"/>
          </a:xfrm>
          <a:prstGeom prst="ellipse">
            <a:avLst/>
          </a:prstGeom>
          <a:solidFill>
            <a:srgbClr val="FFE4D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2704433" y="2135976"/>
            <a:ext cx="38100" cy="38100"/>
          </a:xfrm>
          <a:prstGeom prst="ellipse">
            <a:avLst/>
          </a:prstGeom>
          <a:solidFill>
            <a:srgbClr val="FCE9C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4310828" y="6235864"/>
            <a:ext cx="38100" cy="38100"/>
          </a:xfrm>
          <a:prstGeom prst="ellipse">
            <a:avLst/>
          </a:prstGeom>
          <a:solidFill>
            <a:srgbClr val="D3EF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7022000" y="3019145"/>
            <a:ext cx="38100" cy="38100"/>
          </a:xfrm>
          <a:prstGeom prst="ellipse">
            <a:avLst/>
          </a:prstGeom>
          <a:solidFill>
            <a:srgbClr val="FFF5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2934388" y="6578906"/>
            <a:ext cx="38100" cy="38100"/>
          </a:xfrm>
          <a:prstGeom prst="ellipse">
            <a:avLst/>
          </a:prstGeom>
          <a:solidFill>
            <a:srgbClr val="BBE5E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4503687" y="2296626"/>
            <a:ext cx="38100" cy="38100"/>
          </a:xfrm>
          <a:prstGeom prst="ellipse">
            <a:avLst/>
          </a:prstGeom>
          <a:solidFill>
            <a:srgbClr val="B5EB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4024103" y="1605435"/>
            <a:ext cx="38100" cy="38100"/>
          </a:xfrm>
          <a:prstGeom prst="ellipse">
            <a:avLst/>
          </a:prstGeom>
          <a:solidFill>
            <a:srgbClr val="F6BD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11688773" y="594598"/>
            <a:ext cx="38100" cy="38100"/>
          </a:xfrm>
          <a:prstGeom prst="ellipse">
            <a:avLst/>
          </a:prstGeom>
          <a:solidFill>
            <a:srgbClr val="D8CED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1734257" y="2837687"/>
            <a:ext cx="38100" cy="38100"/>
          </a:xfrm>
          <a:prstGeom prst="ellipse">
            <a:avLst/>
          </a:prstGeom>
          <a:solidFill>
            <a:srgbClr val="DAEDC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5389279" y="5941340"/>
            <a:ext cx="38100" cy="38100"/>
          </a:xfrm>
          <a:prstGeom prst="ellipse">
            <a:avLst/>
          </a:prstGeom>
          <a:solidFill>
            <a:srgbClr val="C8FDE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1875950" y="1769110"/>
            <a:ext cx="38100" cy="38100"/>
          </a:xfrm>
          <a:prstGeom prst="ellipse">
            <a:avLst/>
          </a:prstGeom>
          <a:solidFill>
            <a:srgbClr val="C7B7D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1831428" y="6609568"/>
            <a:ext cx="38100" cy="38100"/>
          </a:xfrm>
          <a:prstGeom prst="ellipse">
            <a:avLst/>
          </a:prstGeom>
          <a:solidFill>
            <a:srgbClr val="DBF5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11498224" y="3284116"/>
            <a:ext cx="38100" cy="38100"/>
          </a:xfrm>
          <a:prstGeom prst="ellipse">
            <a:avLst/>
          </a:prstGeom>
          <a:solidFill>
            <a:srgbClr val="D5B7C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2625993" y="3401203"/>
            <a:ext cx="38100" cy="38100"/>
          </a:xfrm>
          <a:prstGeom prst="ellipse">
            <a:avLst/>
          </a:prstGeom>
          <a:solidFill>
            <a:srgbClr val="F9EC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128074" y="1861113"/>
            <a:ext cx="38100" cy="38100"/>
          </a:xfrm>
          <a:prstGeom prst="ellipse">
            <a:avLst/>
          </a:prstGeom>
          <a:solidFill>
            <a:srgbClr val="E9FED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7278194" y="6035443"/>
            <a:ext cx="38100" cy="38100"/>
          </a:xfrm>
          <a:prstGeom prst="ellipse">
            <a:avLst/>
          </a:prstGeom>
          <a:solidFill>
            <a:srgbClr val="D0E7C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7761443" y="3582135"/>
            <a:ext cx="38100" cy="38100"/>
          </a:xfrm>
          <a:prstGeom prst="ellipse">
            <a:avLst/>
          </a:prstGeom>
          <a:solidFill>
            <a:srgbClr val="E0D0D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4930831" y="4606324"/>
            <a:ext cx="38100" cy="38100"/>
          </a:xfrm>
          <a:prstGeom prst="ellipse">
            <a:avLst/>
          </a:prstGeom>
          <a:solidFill>
            <a:srgbClr val="C8C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6996304" y="1687941"/>
            <a:ext cx="38100" cy="38100"/>
          </a:xfrm>
          <a:prstGeom prst="ellipse">
            <a:avLst/>
          </a:prstGeom>
          <a:solidFill>
            <a:srgbClr val="E3C1D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5629314" y="785945"/>
            <a:ext cx="38100" cy="38100"/>
          </a:xfrm>
          <a:prstGeom prst="ellipse">
            <a:avLst/>
          </a:prstGeom>
          <a:solidFill>
            <a:srgbClr val="C5C8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2811485" y="2580562"/>
            <a:ext cx="38100" cy="38100"/>
          </a:xfrm>
          <a:prstGeom prst="ellipse">
            <a:avLst/>
          </a:prstGeom>
          <a:solidFill>
            <a:srgbClr val="D9FBE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3147727" y="5923570"/>
            <a:ext cx="38100" cy="38100"/>
          </a:xfrm>
          <a:prstGeom prst="ellipse">
            <a:avLst/>
          </a:prstGeom>
          <a:solidFill>
            <a:srgbClr val="DFDB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Oval 24"/>
          <p:cNvSpPr/>
          <p:nvPr/>
        </p:nvSpPr>
        <p:spPr>
          <a:xfrm>
            <a:off x="11603052" y="4897712"/>
            <a:ext cx="38100" cy="38100"/>
          </a:xfrm>
          <a:prstGeom prst="ellipse">
            <a:avLst/>
          </a:prstGeom>
          <a:solidFill>
            <a:srgbClr val="E1B7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Oval 25"/>
          <p:cNvSpPr/>
          <p:nvPr/>
        </p:nvSpPr>
        <p:spPr>
          <a:xfrm>
            <a:off x="11120435" y="5518542"/>
            <a:ext cx="38100" cy="38100"/>
          </a:xfrm>
          <a:prstGeom prst="ellipse">
            <a:avLst/>
          </a:prstGeom>
          <a:solidFill>
            <a:srgbClr val="F6EA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Oval 26"/>
          <p:cNvSpPr/>
          <p:nvPr/>
        </p:nvSpPr>
        <p:spPr>
          <a:xfrm>
            <a:off x="2638267" y="6033781"/>
            <a:ext cx="38100" cy="38100"/>
          </a:xfrm>
          <a:prstGeom prst="ellipse">
            <a:avLst/>
          </a:prstGeom>
          <a:solidFill>
            <a:srgbClr val="BFC8D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Oval 27"/>
          <p:cNvSpPr/>
          <p:nvPr/>
        </p:nvSpPr>
        <p:spPr>
          <a:xfrm>
            <a:off x="4087863" y="3752408"/>
            <a:ext cx="38100" cy="38100"/>
          </a:xfrm>
          <a:prstGeom prst="ellipse">
            <a:avLst/>
          </a:prstGeom>
          <a:solidFill>
            <a:srgbClr val="D3F3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Oval 28"/>
          <p:cNvSpPr/>
          <p:nvPr/>
        </p:nvSpPr>
        <p:spPr>
          <a:xfrm>
            <a:off x="1724800" y="352117"/>
            <a:ext cx="38100" cy="38100"/>
          </a:xfrm>
          <a:prstGeom prst="ellipse">
            <a:avLst/>
          </a:prstGeom>
          <a:solidFill>
            <a:srgbClr val="BBFA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Oval 29"/>
          <p:cNvSpPr/>
          <p:nvPr/>
        </p:nvSpPr>
        <p:spPr>
          <a:xfrm>
            <a:off x="423448" y="819093"/>
            <a:ext cx="38100" cy="38100"/>
          </a:xfrm>
          <a:prstGeom prst="ellipse">
            <a:avLst/>
          </a:prstGeom>
          <a:solidFill>
            <a:srgbClr val="FCFF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Oval 30"/>
          <p:cNvSpPr/>
          <p:nvPr/>
        </p:nvSpPr>
        <p:spPr>
          <a:xfrm>
            <a:off x="6830423" y="3329031"/>
            <a:ext cx="38100" cy="38100"/>
          </a:xfrm>
          <a:prstGeom prst="ellipse">
            <a:avLst/>
          </a:prstGeom>
          <a:solidFill>
            <a:srgbClr val="F0EB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Oval 31"/>
          <p:cNvSpPr/>
          <p:nvPr/>
        </p:nvSpPr>
        <p:spPr>
          <a:xfrm>
            <a:off x="10718755" y="5125327"/>
            <a:ext cx="38100" cy="38100"/>
          </a:xfrm>
          <a:prstGeom prst="ellipse">
            <a:avLst/>
          </a:prstGeom>
          <a:solidFill>
            <a:srgbClr val="CEC0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Oval 32"/>
          <p:cNvSpPr/>
          <p:nvPr/>
        </p:nvSpPr>
        <p:spPr>
          <a:xfrm>
            <a:off x="10539956" y="459269"/>
            <a:ext cx="38100" cy="38100"/>
          </a:xfrm>
          <a:prstGeom prst="ellipse">
            <a:avLst/>
          </a:prstGeom>
          <a:solidFill>
            <a:srgbClr val="ECC7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Oval 33"/>
          <p:cNvSpPr/>
          <p:nvPr/>
        </p:nvSpPr>
        <p:spPr>
          <a:xfrm>
            <a:off x="10977323" y="6473213"/>
            <a:ext cx="38100" cy="38100"/>
          </a:xfrm>
          <a:prstGeom prst="ellipse">
            <a:avLst/>
          </a:prstGeom>
          <a:solidFill>
            <a:srgbClr val="B4FF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Oval 34"/>
          <p:cNvSpPr/>
          <p:nvPr/>
        </p:nvSpPr>
        <p:spPr>
          <a:xfrm>
            <a:off x="10004879" y="5781228"/>
            <a:ext cx="38100" cy="38100"/>
          </a:xfrm>
          <a:prstGeom prst="ellipse">
            <a:avLst/>
          </a:prstGeom>
          <a:solidFill>
            <a:srgbClr val="D9D6C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Oval 35"/>
          <p:cNvSpPr/>
          <p:nvPr/>
        </p:nvSpPr>
        <p:spPr>
          <a:xfrm>
            <a:off x="6152658" y="5657412"/>
            <a:ext cx="38100" cy="38100"/>
          </a:xfrm>
          <a:prstGeom prst="ellipse">
            <a:avLst/>
          </a:prstGeom>
          <a:solidFill>
            <a:srgbClr val="D2CA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Oval 36"/>
          <p:cNvSpPr/>
          <p:nvPr/>
        </p:nvSpPr>
        <p:spPr>
          <a:xfrm>
            <a:off x="7544794" y="3210333"/>
            <a:ext cx="38100" cy="38100"/>
          </a:xfrm>
          <a:prstGeom prst="ellipse">
            <a:avLst/>
          </a:prstGeom>
          <a:solidFill>
            <a:srgbClr val="C8EBD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Oval 37"/>
          <p:cNvSpPr/>
          <p:nvPr/>
        </p:nvSpPr>
        <p:spPr>
          <a:xfrm>
            <a:off x="11821616" y="1091586"/>
            <a:ext cx="38100" cy="38100"/>
          </a:xfrm>
          <a:prstGeom prst="ellipse">
            <a:avLst/>
          </a:prstGeom>
          <a:solidFill>
            <a:srgbClr val="CCB5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Oval 38"/>
          <p:cNvSpPr/>
          <p:nvPr/>
        </p:nvSpPr>
        <p:spPr>
          <a:xfrm>
            <a:off x="2068344" y="6487331"/>
            <a:ext cx="38100" cy="38100"/>
          </a:xfrm>
          <a:prstGeom prst="ellipse">
            <a:avLst/>
          </a:prstGeom>
          <a:solidFill>
            <a:srgbClr val="E6B7D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Oval 39"/>
          <p:cNvSpPr/>
          <p:nvPr/>
        </p:nvSpPr>
        <p:spPr>
          <a:xfrm>
            <a:off x="8462833" y="4745926"/>
            <a:ext cx="38100" cy="38100"/>
          </a:xfrm>
          <a:prstGeom prst="ellipse">
            <a:avLst/>
          </a:prstGeom>
          <a:solidFill>
            <a:srgbClr val="F4E6C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Oval 40"/>
          <p:cNvSpPr/>
          <p:nvPr/>
        </p:nvSpPr>
        <p:spPr>
          <a:xfrm>
            <a:off x="7260013" y="4660696"/>
            <a:ext cx="38100" cy="38100"/>
          </a:xfrm>
          <a:prstGeom prst="ellipse">
            <a:avLst/>
          </a:prstGeom>
          <a:solidFill>
            <a:srgbClr val="DDD2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Oval 41"/>
          <p:cNvSpPr/>
          <p:nvPr/>
        </p:nvSpPr>
        <p:spPr>
          <a:xfrm>
            <a:off x="7047364" y="5027338"/>
            <a:ext cx="38100" cy="38100"/>
          </a:xfrm>
          <a:prstGeom prst="ellipse">
            <a:avLst/>
          </a:prstGeom>
          <a:solidFill>
            <a:srgbClr val="F6F0D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Oval 42"/>
          <p:cNvSpPr/>
          <p:nvPr/>
        </p:nvSpPr>
        <p:spPr>
          <a:xfrm>
            <a:off x="974315" y="4964049"/>
            <a:ext cx="38100" cy="38100"/>
          </a:xfrm>
          <a:prstGeom prst="ellipse">
            <a:avLst/>
          </a:prstGeom>
          <a:solidFill>
            <a:srgbClr val="E8EDE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Oval 43"/>
          <p:cNvSpPr/>
          <p:nvPr/>
        </p:nvSpPr>
        <p:spPr>
          <a:xfrm>
            <a:off x="1080414" y="825973"/>
            <a:ext cx="38100" cy="38100"/>
          </a:xfrm>
          <a:prstGeom prst="ellipse">
            <a:avLst/>
          </a:prstGeom>
          <a:solidFill>
            <a:srgbClr val="D6F6D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Oval 44"/>
          <p:cNvSpPr/>
          <p:nvPr/>
        </p:nvSpPr>
        <p:spPr>
          <a:xfrm>
            <a:off x="10601339" y="423878"/>
            <a:ext cx="38100" cy="38100"/>
          </a:xfrm>
          <a:prstGeom prst="ellipse">
            <a:avLst/>
          </a:prstGeom>
          <a:solidFill>
            <a:srgbClr val="D0DF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Oval 45"/>
          <p:cNvSpPr/>
          <p:nvPr/>
        </p:nvSpPr>
        <p:spPr>
          <a:xfrm>
            <a:off x="4311626" y="5510349"/>
            <a:ext cx="38100" cy="38100"/>
          </a:xfrm>
          <a:prstGeom prst="ellipse">
            <a:avLst/>
          </a:prstGeom>
          <a:solidFill>
            <a:srgbClr val="CADCE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Oval 46"/>
          <p:cNvSpPr/>
          <p:nvPr/>
        </p:nvSpPr>
        <p:spPr>
          <a:xfrm>
            <a:off x="169174" y="5318901"/>
            <a:ext cx="38100" cy="38100"/>
          </a:xfrm>
          <a:prstGeom prst="ellipse">
            <a:avLst/>
          </a:prstGeom>
          <a:solidFill>
            <a:srgbClr val="ECBAC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Oval 47"/>
          <p:cNvSpPr/>
          <p:nvPr/>
        </p:nvSpPr>
        <p:spPr>
          <a:xfrm>
            <a:off x="2376385" y="3714491"/>
            <a:ext cx="38100" cy="38100"/>
          </a:xfrm>
          <a:prstGeom prst="ellipse">
            <a:avLst/>
          </a:prstGeom>
          <a:solidFill>
            <a:srgbClr val="DFEA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Oval 48"/>
          <p:cNvSpPr/>
          <p:nvPr/>
        </p:nvSpPr>
        <p:spPr>
          <a:xfrm>
            <a:off x="11516382" y="6110145"/>
            <a:ext cx="38100" cy="38100"/>
          </a:xfrm>
          <a:prstGeom prst="ellipse">
            <a:avLst/>
          </a:prstGeom>
          <a:solidFill>
            <a:srgbClr val="B9F4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Oval 49"/>
          <p:cNvSpPr/>
          <p:nvPr/>
        </p:nvSpPr>
        <p:spPr>
          <a:xfrm>
            <a:off x="377202" y="1541230"/>
            <a:ext cx="38100" cy="38100"/>
          </a:xfrm>
          <a:prstGeom prst="ellipse">
            <a:avLst/>
          </a:prstGeom>
          <a:solidFill>
            <a:srgbClr val="EEDF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Oval 50"/>
          <p:cNvSpPr/>
          <p:nvPr/>
        </p:nvSpPr>
        <p:spPr>
          <a:xfrm>
            <a:off x="4986460" y="664126"/>
            <a:ext cx="38100" cy="38100"/>
          </a:xfrm>
          <a:prstGeom prst="ellipse">
            <a:avLst/>
          </a:prstGeom>
          <a:solidFill>
            <a:srgbClr val="BDFEC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Oval 51"/>
          <p:cNvSpPr/>
          <p:nvPr/>
        </p:nvSpPr>
        <p:spPr>
          <a:xfrm>
            <a:off x="2951185" y="5575523"/>
            <a:ext cx="38100" cy="38100"/>
          </a:xfrm>
          <a:prstGeom prst="ellipse">
            <a:avLst/>
          </a:prstGeom>
          <a:solidFill>
            <a:srgbClr val="BCE8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Oval 52"/>
          <p:cNvSpPr/>
          <p:nvPr/>
        </p:nvSpPr>
        <p:spPr>
          <a:xfrm>
            <a:off x="7196918" y="6646046"/>
            <a:ext cx="38100" cy="38100"/>
          </a:xfrm>
          <a:prstGeom prst="ellipse">
            <a:avLst/>
          </a:prstGeom>
          <a:solidFill>
            <a:srgbClr val="BCB8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Oval 53"/>
          <p:cNvSpPr/>
          <p:nvPr/>
        </p:nvSpPr>
        <p:spPr>
          <a:xfrm>
            <a:off x="911312" y="1330239"/>
            <a:ext cx="38100" cy="38100"/>
          </a:xfrm>
          <a:prstGeom prst="ellipse">
            <a:avLst/>
          </a:prstGeom>
          <a:solidFill>
            <a:srgbClr val="EEDA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Oval 54"/>
          <p:cNvSpPr/>
          <p:nvPr/>
        </p:nvSpPr>
        <p:spPr>
          <a:xfrm>
            <a:off x="2511411" y="5780636"/>
            <a:ext cx="38100" cy="38100"/>
          </a:xfrm>
          <a:prstGeom prst="ellipse">
            <a:avLst/>
          </a:prstGeom>
          <a:solidFill>
            <a:srgbClr val="D3F6D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Oval 55"/>
          <p:cNvSpPr/>
          <p:nvPr/>
        </p:nvSpPr>
        <p:spPr>
          <a:xfrm>
            <a:off x="7314061" y="4317686"/>
            <a:ext cx="38100" cy="38100"/>
          </a:xfrm>
          <a:prstGeom prst="ellipse">
            <a:avLst/>
          </a:prstGeom>
          <a:solidFill>
            <a:srgbClr val="EDD1C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Oval 56"/>
          <p:cNvSpPr/>
          <p:nvPr/>
        </p:nvSpPr>
        <p:spPr>
          <a:xfrm>
            <a:off x="5807185" y="4980059"/>
            <a:ext cx="38100" cy="38100"/>
          </a:xfrm>
          <a:prstGeom prst="ellipse">
            <a:avLst/>
          </a:prstGeom>
          <a:solidFill>
            <a:srgbClr val="E4FBE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Oval 57"/>
          <p:cNvSpPr/>
          <p:nvPr/>
        </p:nvSpPr>
        <p:spPr>
          <a:xfrm>
            <a:off x="8281210" y="3178421"/>
            <a:ext cx="38100" cy="38100"/>
          </a:xfrm>
          <a:prstGeom prst="ellipse">
            <a:avLst/>
          </a:prstGeom>
          <a:solidFill>
            <a:srgbClr val="E6D7D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Oval 58"/>
          <p:cNvSpPr/>
          <p:nvPr/>
        </p:nvSpPr>
        <p:spPr>
          <a:xfrm>
            <a:off x="7129035" y="4887963"/>
            <a:ext cx="38100" cy="38100"/>
          </a:xfrm>
          <a:prstGeom prst="ellipse">
            <a:avLst/>
          </a:prstGeom>
          <a:solidFill>
            <a:srgbClr val="F7CCD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Oval 59"/>
          <p:cNvSpPr/>
          <p:nvPr/>
        </p:nvSpPr>
        <p:spPr>
          <a:xfrm>
            <a:off x="447161" y="4012633"/>
            <a:ext cx="38100" cy="38100"/>
          </a:xfrm>
          <a:prstGeom prst="ellipse">
            <a:avLst/>
          </a:prstGeom>
          <a:solidFill>
            <a:srgbClr val="B6FA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Oval 60"/>
          <p:cNvSpPr/>
          <p:nvPr/>
        </p:nvSpPr>
        <p:spPr>
          <a:xfrm>
            <a:off x="9361105" y="5153124"/>
            <a:ext cx="38100" cy="38100"/>
          </a:xfrm>
          <a:prstGeom prst="ellipse">
            <a:avLst/>
          </a:prstGeom>
          <a:solidFill>
            <a:srgbClr val="B9DF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Oval 61"/>
          <p:cNvSpPr/>
          <p:nvPr/>
        </p:nvSpPr>
        <p:spPr>
          <a:xfrm>
            <a:off x="4770230" y="998985"/>
            <a:ext cx="38100" cy="38100"/>
          </a:xfrm>
          <a:prstGeom prst="ellipse">
            <a:avLst/>
          </a:prstGeom>
          <a:solidFill>
            <a:srgbClr val="EABC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TextBox 62"/>
          <p:cNvSpPr txBox="1"/>
          <p:nvPr/>
        </p:nvSpPr>
        <p:spPr>
          <a:xfrm>
            <a:off x="914400" y="1371600"/>
            <a:ext cx="100584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6400" b="1">
                <a:solidFill>
                  <a:srgbClr val="CFA33B"/>
                </a:solidFill>
                <a:latin typeface="Microsoft YaHei"/>
              </a:defRPr>
            </a:pPr>
            <a:r>
              <a:t>WARHAMMER  40,000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914400" y="292608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200" b="0">
                <a:solidFill>
                  <a:srgbClr val="F0F0F0"/>
                </a:solidFill>
                <a:latin typeface="Microsoft YaHei"/>
              </a:defRPr>
            </a:pPr>
            <a:r>
              <a:t>Explore the Galaxy — in English!</a:t>
            </a:r>
          </a:p>
        </p:txBody>
      </p:sp>
      <p:sp>
        <p:nvSpPr>
          <p:cNvPr id="65" name="TextBox 64"/>
          <p:cNvSpPr txBox="1"/>
          <p:nvPr/>
        </p:nvSpPr>
        <p:spPr>
          <a:xfrm>
            <a:off x="914400" y="393192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0">
                <a:solidFill>
                  <a:srgbClr val="BBBBBB"/>
                </a:solidFill>
                <a:latin typeface="Microsoft YaHei"/>
              </a:defRPr>
            </a:pPr>
            <a:r>
              <a:t>战锤40K · 初二英语主题课</a:t>
            </a:r>
          </a:p>
        </p:txBody>
      </p:sp>
      <p:sp>
        <p:nvSpPr>
          <p:cNvPr id="66" name="TextBox 65"/>
          <p:cNvSpPr txBox="1"/>
          <p:nvPr/>
        </p:nvSpPr>
        <p:spPr>
          <a:xfrm>
            <a:off x="1828800" y="5303520"/>
            <a:ext cx="8229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0">
                <a:solidFill>
                  <a:srgbClr val="888888"/>
                </a:solidFill>
                <a:latin typeface="Microsoft YaHei"/>
              </a:defRPr>
            </a:pPr>
            <a:r>
              <a:t>"In the grim darkness of the far future, there is only war."</a:t>
            </a:r>
          </a:p>
        </p:txBody>
      </p:sp>
      <p:sp>
        <p:nvSpPr>
          <p:cNvPr id="67" name="Rectangle 66"/>
          <p:cNvSpPr/>
          <p:nvPr/>
        </p:nvSpPr>
        <p:spPr>
          <a:xfrm>
            <a:off x="0" y="6803136"/>
            <a:ext cx="12191695" cy="54864"/>
          </a:xfrm>
          <a:prstGeom prst="rect">
            <a:avLst/>
          </a:prstGeom>
          <a:solidFill>
            <a:srgbClr val="CFA3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0E1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45720"/>
          </a:xfrm>
          <a:prstGeom prst="rect">
            <a:avLst/>
          </a:prstGeom>
          <a:solidFill>
            <a:srgbClr val="CFA3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4000" b="1">
                <a:solidFill>
                  <a:srgbClr val="CFA33B"/>
                </a:solidFill>
                <a:latin typeface="Microsoft YaHei"/>
              </a:defRPr>
            </a:pPr>
            <a:r>
              <a:t>What is Warhammer 40K?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57200" y="1463040"/>
            <a:ext cx="5486400" cy="4754880"/>
          </a:xfrm>
          <a:prstGeom prst="roundRect">
            <a:avLst/>
          </a:prstGeom>
          <a:solidFill>
            <a:srgbClr val="161B22"/>
          </a:solidFill>
          <a:ln w="6350">
            <a:solidFill>
              <a:srgbClr val="3333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1645920"/>
            <a:ext cx="457200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100"/>
              </a:spcAft>
              <a:defRPr sz="2200" b="1">
                <a:solidFill>
                  <a:srgbClr val="CFA33B"/>
                </a:solidFill>
                <a:latin typeface="Microsoft YaHei"/>
              </a:defRPr>
            </a:pPr>
            <a:r>
              <a:t>A Science Fiction Universe</a:t>
            </a:r>
          </a:p>
          <a:p>
            <a:pPr>
              <a:spcAft>
                <a:spcPts val="500"/>
              </a:spcAft>
              <a:defRPr sz="1000" b="0">
                <a:solidFill>
                  <a:srgbClr val="F0F0F0"/>
                </a:solidFill>
                <a:latin typeface="Microsoft YaHei"/>
              </a:defRPr>
            </a:pPr>
          </a:p>
          <a:p>
            <a:pPr>
              <a:spcAft>
                <a:spcPts val="850"/>
              </a:spcAft>
              <a:defRPr sz="1700" b="0">
                <a:solidFill>
                  <a:srgbClr val="F0F0F0"/>
                </a:solidFill>
                <a:latin typeface="Microsoft YaHei"/>
              </a:defRPr>
            </a:pPr>
            <a:r>
              <a:t>📅 Set in the year 40,000 — 38,000 years in the future!</a:t>
            </a:r>
          </a:p>
          <a:p>
            <a:pPr>
              <a:spcAft>
                <a:spcPts val="500"/>
              </a:spcAft>
              <a:defRPr sz="1000" b="0">
                <a:solidFill>
                  <a:srgbClr val="F0F0F0"/>
                </a:solidFill>
                <a:latin typeface="Microsoft YaHei"/>
              </a:defRPr>
            </a:pPr>
          </a:p>
          <a:p>
            <a:pPr>
              <a:spcAft>
                <a:spcPts val="850"/>
              </a:spcAft>
              <a:defRPr sz="1700" b="0">
                <a:solidFill>
                  <a:srgbClr val="F0F0F0"/>
                </a:solidFill>
                <a:latin typeface="Microsoft YaHei"/>
              </a:defRPr>
            </a:pPr>
            <a:r>
              <a:t>🌌 Humans have spread across the entire galaxy.</a:t>
            </a:r>
          </a:p>
          <a:p>
            <a:pPr>
              <a:spcAft>
                <a:spcPts val="500"/>
              </a:spcAft>
              <a:defRPr sz="1000" b="0">
                <a:solidFill>
                  <a:srgbClr val="F0F0F0"/>
                </a:solidFill>
                <a:latin typeface="Microsoft YaHei"/>
              </a:defRPr>
            </a:pPr>
          </a:p>
          <a:p>
            <a:pPr>
              <a:spcAft>
                <a:spcPts val="850"/>
              </a:spcAft>
              <a:defRPr sz="1700" b="0">
                <a:solidFill>
                  <a:srgbClr val="F0F0F0"/>
                </a:solidFill>
                <a:latin typeface="Microsoft YaHei"/>
              </a:defRPr>
            </a:pPr>
            <a:r>
              <a:t>🏛️ The Imperium of Man is a huge but crumbling empire.</a:t>
            </a:r>
          </a:p>
          <a:p>
            <a:pPr>
              <a:spcAft>
                <a:spcPts val="500"/>
              </a:spcAft>
              <a:defRPr sz="1000" b="0">
                <a:solidFill>
                  <a:srgbClr val="F0F0F0"/>
                </a:solidFill>
                <a:latin typeface="Microsoft YaHei"/>
              </a:defRPr>
            </a:pPr>
          </a:p>
          <a:p>
            <a:pPr>
              <a:spcAft>
                <a:spcPts val="850"/>
              </a:spcAft>
              <a:defRPr sz="1700" b="0">
                <a:solidFill>
                  <a:srgbClr val="F0F0F0"/>
                </a:solidFill>
                <a:latin typeface="Microsoft YaHei"/>
              </a:defRPr>
            </a:pPr>
            <a:r>
              <a:t>⚔️ Everyone is at war — humans, aliens, and dark gods.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0" y="1463040"/>
            <a:ext cx="5303520" cy="4754880"/>
          </a:xfrm>
          <a:prstGeom prst="roundRect">
            <a:avLst/>
          </a:prstGeom>
          <a:solidFill>
            <a:srgbClr val="161B22"/>
          </a:solidFill>
          <a:ln w="6350">
            <a:solidFill>
              <a:srgbClr val="3333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858000" y="1645920"/>
            <a:ext cx="457200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100"/>
              </a:spcAft>
              <a:defRPr sz="2200" b="1">
                <a:solidFill>
                  <a:srgbClr val="CFA33B"/>
                </a:solidFill>
                <a:latin typeface="Microsoft YaHei"/>
              </a:defRPr>
            </a:pPr>
            <a:r>
              <a:t>Quick Facts</a:t>
            </a:r>
          </a:p>
          <a:p>
            <a:pPr>
              <a:spcAft>
                <a:spcPts val="500"/>
              </a:spcAft>
              <a:defRPr sz="1000" b="0">
                <a:solidFill>
                  <a:srgbClr val="F0F0F0"/>
                </a:solidFill>
                <a:latin typeface="Microsoft YaHei"/>
              </a:defRPr>
            </a:pPr>
          </a:p>
          <a:p>
            <a:pPr>
              <a:spcAft>
                <a:spcPts val="750"/>
              </a:spcAft>
              <a:defRPr sz="1500" b="0">
                <a:solidFill>
                  <a:srgbClr val="F0F0F0"/>
                </a:solidFill>
                <a:latin typeface="Microsoft YaHei"/>
              </a:defRPr>
            </a:pPr>
            <a:r>
              <a:t>🎲 Started as a tabletop game in 1987</a:t>
            </a:r>
          </a:p>
          <a:p>
            <a:pPr>
              <a:spcAft>
                <a:spcPts val="400"/>
              </a:spcAft>
              <a:defRPr sz="800" b="0">
                <a:solidFill>
                  <a:srgbClr val="F0F0F0"/>
                </a:solidFill>
                <a:latin typeface="Microsoft YaHei"/>
              </a:defRPr>
            </a:pPr>
          </a:p>
          <a:p>
            <a:pPr>
              <a:spcAft>
                <a:spcPts val="750"/>
              </a:spcAft>
              <a:defRPr sz="1500" b="0">
                <a:solidFill>
                  <a:srgbClr val="F0F0F0"/>
                </a:solidFill>
                <a:latin typeface="Microsoft YaHei"/>
              </a:defRPr>
            </a:pPr>
            <a:r>
              <a:t>📚 Hundreds of novels published</a:t>
            </a:r>
          </a:p>
          <a:p>
            <a:pPr>
              <a:spcAft>
                <a:spcPts val="400"/>
              </a:spcAft>
              <a:defRPr sz="800" b="0">
                <a:solidFill>
                  <a:srgbClr val="F0F0F0"/>
                </a:solidFill>
                <a:latin typeface="Microsoft YaHei"/>
              </a:defRPr>
            </a:pPr>
          </a:p>
          <a:p>
            <a:pPr>
              <a:spcAft>
                <a:spcPts val="750"/>
              </a:spcAft>
              <a:defRPr sz="1500" b="0">
                <a:solidFill>
                  <a:srgbClr val="F0F0F0"/>
                </a:solidFill>
                <a:latin typeface="Microsoft YaHei"/>
              </a:defRPr>
            </a:pPr>
            <a:r>
              <a:t>🎮 Many popular video games</a:t>
            </a:r>
          </a:p>
          <a:p>
            <a:pPr>
              <a:spcAft>
                <a:spcPts val="400"/>
              </a:spcAft>
              <a:defRPr sz="800" b="0">
                <a:solidFill>
                  <a:srgbClr val="F0F0F0"/>
                </a:solidFill>
                <a:latin typeface="Microsoft YaHei"/>
              </a:defRPr>
            </a:pPr>
          </a:p>
          <a:p>
            <a:pPr>
              <a:spcAft>
                <a:spcPts val="750"/>
              </a:spcAft>
              <a:defRPr sz="1500" b="0">
                <a:solidFill>
                  <a:srgbClr val="F0F0F0"/>
                </a:solidFill>
                <a:latin typeface="Microsoft YaHei"/>
              </a:defRPr>
            </a:pPr>
            <a:r>
              <a:t>🌍 One of the biggest sci-fi IPs in the world</a:t>
            </a:r>
          </a:p>
          <a:p>
            <a:pPr>
              <a:spcAft>
                <a:spcPts val="400"/>
              </a:spcAft>
              <a:defRPr sz="800" b="0">
                <a:solidFill>
                  <a:srgbClr val="F0F0F0"/>
                </a:solidFill>
                <a:latin typeface="Microsoft YaHei"/>
              </a:defRPr>
            </a:pPr>
          </a:p>
          <a:p>
            <a:pPr>
              <a:spcAft>
                <a:spcPts val="750"/>
              </a:spcAft>
              <a:defRPr sz="1500" b="0">
                <a:solidFill>
                  <a:srgbClr val="F0F0F0"/>
                </a:solidFill>
                <a:latin typeface="Microsoft YaHei"/>
              </a:defRPr>
            </a:pPr>
            <a:r>
              <a:t>💡 Famous quote:</a:t>
            </a:r>
          </a:p>
          <a:p>
            <a:pPr>
              <a:spcAft>
                <a:spcPts val="700"/>
              </a:spcAft>
              <a:defRPr sz="1400" b="0">
                <a:solidFill>
                  <a:srgbClr val="BBBBBB"/>
                </a:solidFill>
                <a:latin typeface="Microsoft YaHei"/>
              </a:defRPr>
            </a:pPr>
            <a:r>
              <a:t>"In the grim darkness of the</a:t>
            </a:r>
            <a:br/>
            <a:r>
              <a:t>far future, there is only war."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0E1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45720"/>
          </a:xfrm>
          <a:prstGeom prst="rect">
            <a:avLst/>
          </a:prstGeom>
          <a:solidFill>
            <a:srgbClr val="CFA3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4000" b="1">
                <a:solidFill>
                  <a:srgbClr val="CFA33B"/>
                </a:solidFill>
                <a:latin typeface="Microsoft YaHei"/>
              </a:defRPr>
            </a:pPr>
            <a:r>
              <a:t>The 40K Universe — Timeline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48640" y="1645920"/>
            <a:ext cx="2651760" cy="3474720"/>
          </a:xfrm>
          <a:prstGeom prst="roundRect">
            <a:avLst/>
          </a:prstGeom>
          <a:solidFill>
            <a:srgbClr val="161B22"/>
          </a:solidFill>
          <a:ln w="6350">
            <a:solidFill>
              <a:srgbClr val="3333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1828800"/>
            <a:ext cx="2286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600" b="1">
                <a:solidFill>
                  <a:srgbClr val="CFA33B"/>
                </a:solidFill>
                <a:latin typeface="Microsoft YaHei"/>
              </a:defRPr>
            </a:pPr>
            <a:r>
              <a:t>2K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2377440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>
                <a:solidFill>
                  <a:srgbClr val="F0F0F0"/>
                </a:solidFill>
                <a:latin typeface="Microsoft YaHei"/>
              </a:defRPr>
            </a:pPr>
            <a:r>
              <a:t>Present Day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2926080"/>
            <a:ext cx="22860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0">
                <a:solidFill>
                  <a:srgbClr val="BBBBBB"/>
                </a:solidFill>
                <a:latin typeface="Microsoft YaHei"/>
              </a:defRPr>
            </a:pPr>
            <a:r>
              <a:t>🌏 We are here! Modern Earth.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429000" y="1645920"/>
            <a:ext cx="2651760" cy="3474720"/>
          </a:xfrm>
          <a:prstGeom prst="roundRect">
            <a:avLst/>
          </a:prstGeom>
          <a:solidFill>
            <a:srgbClr val="161B22"/>
          </a:solidFill>
          <a:ln w="6350">
            <a:solidFill>
              <a:srgbClr val="3333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611880" y="1828800"/>
            <a:ext cx="2286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600" b="1">
                <a:solidFill>
                  <a:srgbClr val="CFA33B"/>
                </a:solidFill>
                <a:latin typeface="Microsoft YaHei"/>
              </a:defRPr>
            </a:pPr>
            <a:r>
              <a:t>15K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611880" y="2377440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>
                <a:solidFill>
                  <a:srgbClr val="F0F0F0"/>
                </a:solidFill>
                <a:latin typeface="Microsoft YaHei"/>
              </a:defRPr>
            </a:pPr>
            <a:r>
              <a:t>Golden Age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611880" y="2926080"/>
            <a:ext cx="22860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0">
                <a:solidFill>
                  <a:srgbClr val="BBBBBB"/>
                </a:solidFill>
                <a:latin typeface="Microsoft YaHei"/>
              </a:defRPr>
            </a:pPr>
            <a:r>
              <a:t>🚀 Humanity colonizes the stars.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309359" y="1645920"/>
            <a:ext cx="2651760" cy="3474720"/>
          </a:xfrm>
          <a:prstGeom prst="roundRect">
            <a:avLst/>
          </a:prstGeom>
          <a:solidFill>
            <a:srgbClr val="161B22"/>
          </a:solidFill>
          <a:ln w="6350">
            <a:solidFill>
              <a:srgbClr val="3333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492239" y="1828800"/>
            <a:ext cx="2286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600" b="1">
                <a:solidFill>
                  <a:srgbClr val="CFA33B"/>
                </a:solidFill>
                <a:latin typeface="Microsoft YaHei"/>
              </a:defRPr>
            </a:pPr>
            <a:r>
              <a:t>30K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92239" y="2377440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>
                <a:solidFill>
                  <a:srgbClr val="F0F0F0"/>
                </a:solidFill>
                <a:latin typeface="Microsoft YaHei"/>
              </a:defRPr>
            </a:pPr>
            <a:r>
              <a:t>Horus Heresy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92239" y="2926080"/>
            <a:ext cx="22860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0">
                <a:solidFill>
                  <a:srgbClr val="BBBBBB"/>
                </a:solidFill>
                <a:latin typeface="Microsoft YaHei"/>
              </a:defRPr>
            </a:pPr>
            <a:r>
              <a:t>🔥 Civil war tears the galaxy apart.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9189719" y="1645920"/>
            <a:ext cx="2651760" cy="3474720"/>
          </a:xfrm>
          <a:prstGeom prst="roundRect">
            <a:avLst/>
          </a:prstGeom>
          <a:solidFill>
            <a:srgbClr val="161B22"/>
          </a:solidFill>
          <a:ln w="6350">
            <a:solidFill>
              <a:srgbClr val="3333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9372599" y="1828800"/>
            <a:ext cx="2286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600" b="1">
                <a:solidFill>
                  <a:srgbClr val="CFA33B"/>
                </a:solidFill>
                <a:latin typeface="Microsoft YaHei"/>
              </a:defRPr>
            </a:pPr>
            <a:r>
              <a:t>40K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372599" y="2377440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>
                <a:solidFill>
                  <a:srgbClr val="F0F0F0"/>
                </a:solidFill>
                <a:latin typeface="Microsoft YaHei"/>
              </a:defRPr>
            </a:pPr>
            <a:r>
              <a:t>Era Indomitus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372599" y="2926080"/>
            <a:ext cx="22860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0">
                <a:solidFill>
                  <a:srgbClr val="BBBBBB"/>
                </a:solidFill>
                <a:latin typeface="Microsoft YaHei"/>
              </a:defRPr>
            </a:pPr>
            <a:r>
              <a:t>💀 The grim darkness of the far future.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200400" y="2926080"/>
            <a:ext cx="274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000" b="1">
                <a:solidFill>
                  <a:srgbClr val="CFA33B"/>
                </a:solidFill>
                <a:latin typeface="Microsoft YaHei"/>
              </a:defRPr>
            </a:pPr>
            <a:r>
              <a:t>→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080760" y="2926080"/>
            <a:ext cx="274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000" b="1">
                <a:solidFill>
                  <a:srgbClr val="CFA33B"/>
                </a:solidFill>
                <a:latin typeface="Microsoft YaHei"/>
              </a:defRPr>
            </a:pPr>
            <a:r>
              <a:t>→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961120" y="2926080"/>
            <a:ext cx="274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000" b="1">
                <a:solidFill>
                  <a:srgbClr val="CFA33B"/>
                </a:solidFill>
                <a:latin typeface="Microsoft YaHei"/>
              </a:defRPr>
            </a:pPr>
            <a:r>
              <a:t>→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14400" y="566928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0">
                <a:solidFill>
                  <a:srgbClr val="3BBFBF"/>
                </a:solidFill>
                <a:latin typeface="Microsoft YaHei"/>
              </a:defRPr>
            </a:pPr>
            <a:r>
              <a:t>💡 Key Question: What will happen to humanity 38,000 years from now?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0E1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45720"/>
          </a:xfrm>
          <a:prstGeom prst="rect">
            <a:avLst/>
          </a:prstGeom>
          <a:solidFill>
            <a:srgbClr val="CFA3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4000" b="1">
                <a:solidFill>
                  <a:srgbClr val="CFA33B"/>
                </a:solidFill>
                <a:latin typeface="Microsoft YaHei"/>
              </a:defRPr>
            </a:pPr>
            <a:r>
              <a:t>Key Vocabulary — Part 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91440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0">
                <a:solidFill>
                  <a:srgbClr val="BBBBBB"/>
                </a:solidFill>
                <a:latin typeface="Microsoft YaHei"/>
              </a:defRPr>
            </a:pPr>
            <a:r>
              <a:t>Universe &amp; Technology · 宇宙与科技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57200" y="1645920"/>
            <a:ext cx="5394960" cy="868680"/>
          </a:xfrm>
          <a:prstGeom prst="roundRect">
            <a:avLst/>
          </a:prstGeom>
          <a:solidFill>
            <a:srgbClr val="161B22"/>
          </a:solidFill>
          <a:ln w="6350">
            <a:solidFill>
              <a:srgbClr val="3333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1719072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CFA33B"/>
                </a:solidFill>
                <a:latin typeface="Microsoft YaHei"/>
              </a:defRPr>
            </a:pPr>
            <a:r>
              <a:t>galaxy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743200" y="1737360"/>
            <a:ext cx="1097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BBBBBB"/>
                </a:solidFill>
                <a:latin typeface="Microsoft YaHei"/>
              </a:defRPr>
            </a:pPr>
            <a:r>
              <a:t>银河系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840480" y="1737360"/>
            <a:ext cx="1828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999999"/>
                </a:solidFill>
                <a:latin typeface="Microsoft YaHei"/>
              </a:defRPr>
            </a:pPr>
            <a:r>
              <a:t>Our galaxy is called the Milky Way.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2633472"/>
            <a:ext cx="5394960" cy="868680"/>
          </a:xfrm>
          <a:prstGeom prst="roundRect">
            <a:avLst/>
          </a:prstGeom>
          <a:solidFill>
            <a:srgbClr val="161B22"/>
          </a:solidFill>
          <a:ln w="6350">
            <a:solidFill>
              <a:srgbClr val="3333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31520" y="2706624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CFA33B"/>
                </a:solidFill>
                <a:latin typeface="Microsoft YaHei"/>
              </a:defRPr>
            </a:pPr>
            <a:r>
              <a:t>empire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743200" y="2724912"/>
            <a:ext cx="1097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BBBBBB"/>
                </a:solidFill>
                <a:latin typeface="Microsoft YaHei"/>
              </a:defRPr>
            </a:pPr>
            <a:r>
              <a:t>帝国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840480" y="2724912"/>
            <a:ext cx="1828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999999"/>
                </a:solidFill>
                <a:latin typeface="Microsoft YaHei"/>
              </a:defRPr>
            </a:pPr>
            <a:r>
              <a:t>The Imperium is the largest empire.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57200" y="3621024"/>
            <a:ext cx="5394960" cy="868680"/>
          </a:xfrm>
          <a:prstGeom prst="roundRect">
            <a:avLst/>
          </a:prstGeom>
          <a:solidFill>
            <a:srgbClr val="161B22"/>
          </a:solidFill>
          <a:ln w="6350">
            <a:solidFill>
              <a:srgbClr val="3333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31520" y="3694176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CFA33B"/>
                </a:solidFill>
                <a:latin typeface="Microsoft YaHei"/>
              </a:defRPr>
            </a:pPr>
            <a:r>
              <a:t>emperor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743200" y="3712464"/>
            <a:ext cx="1097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BBBBBB"/>
                </a:solidFill>
                <a:latin typeface="Microsoft YaHei"/>
              </a:defRPr>
            </a:pPr>
            <a:r>
              <a:t>皇帝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840480" y="3712464"/>
            <a:ext cx="1828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999999"/>
                </a:solidFill>
                <a:latin typeface="Microsoft YaHei"/>
              </a:defRPr>
            </a:pPr>
            <a:r>
              <a:t>The Emperor rules from the Golden Throne.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457200" y="4608576"/>
            <a:ext cx="5394960" cy="868680"/>
          </a:xfrm>
          <a:prstGeom prst="roundRect">
            <a:avLst/>
          </a:prstGeom>
          <a:solidFill>
            <a:srgbClr val="161B22"/>
          </a:solidFill>
          <a:ln w="6350">
            <a:solidFill>
              <a:srgbClr val="3333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31520" y="4681728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CFA33B"/>
                </a:solidFill>
                <a:latin typeface="Microsoft YaHei"/>
              </a:defRPr>
            </a:pPr>
            <a:r>
              <a:t>armor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743200" y="4700016"/>
            <a:ext cx="1097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BBBBBB"/>
                </a:solidFill>
                <a:latin typeface="Microsoft YaHei"/>
              </a:defRPr>
            </a:pPr>
            <a:r>
              <a:t>盔甲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840480" y="4700016"/>
            <a:ext cx="1828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999999"/>
                </a:solidFill>
                <a:latin typeface="Microsoft YaHei"/>
              </a:defRPr>
            </a:pPr>
            <a:r>
              <a:t>Space Marines wear power armor.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457200" y="5596128"/>
            <a:ext cx="5394960" cy="868680"/>
          </a:xfrm>
          <a:prstGeom prst="roundRect">
            <a:avLst/>
          </a:prstGeom>
          <a:solidFill>
            <a:srgbClr val="161B22"/>
          </a:solidFill>
          <a:ln w="6350">
            <a:solidFill>
              <a:srgbClr val="3333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731520" y="5669280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CFA33B"/>
                </a:solidFill>
                <a:latin typeface="Microsoft YaHei"/>
              </a:defRPr>
            </a:pPr>
            <a:r>
              <a:t>weapon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2743200" y="5687568"/>
            <a:ext cx="1097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BBBBBB"/>
                </a:solidFill>
                <a:latin typeface="Microsoft YaHei"/>
              </a:defRPr>
            </a:pPr>
            <a:r>
              <a:t>武器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3840480" y="5687568"/>
            <a:ext cx="1828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999999"/>
                </a:solidFill>
                <a:latin typeface="Microsoft YaHei"/>
              </a:defRPr>
            </a:pPr>
            <a:r>
              <a:t>The bolter is a powerful weapon.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6217920" y="1645920"/>
            <a:ext cx="5394960" cy="868680"/>
          </a:xfrm>
          <a:prstGeom prst="roundRect">
            <a:avLst/>
          </a:prstGeom>
          <a:solidFill>
            <a:srgbClr val="161B22"/>
          </a:solidFill>
          <a:ln w="6350">
            <a:solidFill>
              <a:srgbClr val="3333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492240" y="1719072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CFA33B"/>
                </a:solidFill>
                <a:latin typeface="Microsoft YaHei"/>
              </a:defRPr>
            </a:pPr>
            <a:r>
              <a:t>ancient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503920" y="1737360"/>
            <a:ext cx="1097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BBBBBB"/>
                </a:solidFill>
                <a:latin typeface="Microsoft YaHei"/>
              </a:defRPr>
            </a:pPr>
            <a:r>
              <a:t>古老的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601200" y="1737360"/>
            <a:ext cx="1828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999999"/>
                </a:solidFill>
                <a:latin typeface="Microsoft YaHei"/>
              </a:defRPr>
            </a:pPr>
            <a:r>
              <a:t>The Necrons are an ancient race.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6217920" y="2633472"/>
            <a:ext cx="5394960" cy="868680"/>
          </a:xfrm>
          <a:prstGeom prst="roundRect">
            <a:avLst/>
          </a:prstGeom>
          <a:solidFill>
            <a:srgbClr val="161B22"/>
          </a:solidFill>
          <a:ln w="6350">
            <a:solidFill>
              <a:srgbClr val="3333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6492240" y="2706624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CFA33B"/>
                </a:solidFill>
                <a:latin typeface="Microsoft YaHei"/>
              </a:defRPr>
            </a:pPr>
            <a:r>
              <a:t>dimension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8503920" y="2724912"/>
            <a:ext cx="1097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BBBBBB"/>
                </a:solidFill>
                <a:latin typeface="Microsoft YaHei"/>
              </a:defRPr>
            </a:pPr>
            <a:r>
              <a:t>维度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9601200" y="2724912"/>
            <a:ext cx="1828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999999"/>
                </a:solidFill>
                <a:latin typeface="Microsoft YaHei"/>
              </a:defRPr>
            </a:pPr>
            <a:r>
              <a:t>The Warp is a dark dimension.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6217920" y="3621024"/>
            <a:ext cx="5394960" cy="868680"/>
          </a:xfrm>
          <a:prstGeom prst="roundRect">
            <a:avLst/>
          </a:prstGeom>
          <a:solidFill>
            <a:srgbClr val="161B22"/>
          </a:solidFill>
          <a:ln w="6350">
            <a:solidFill>
              <a:srgbClr val="3333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6492240" y="3694176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CFA33B"/>
                </a:solidFill>
                <a:latin typeface="Microsoft YaHei"/>
              </a:defRPr>
            </a:pPr>
            <a:r>
              <a:t>technology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8503920" y="3712464"/>
            <a:ext cx="1097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BBBBBB"/>
                </a:solidFill>
                <a:latin typeface="Microsoft YaHei"/>
              </a:defRPr>
            </a:pPr>
            <a:r>
              <a:t>科技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9601200" y="3712464"/>
            <a:ext cx="1828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999999"/>
                </a:solidFill>
                <a:latin typeface="Microsoft YaHei"/>
              </a:defRPr>
            </a:pPr>
            <a:r>
              <a:t>The Imperium fears new technology.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6217920" y="4608576"/>
            <a:ext cx="5394960" cy="868680"/>
          </a:xfrm>
          <a:prstGeom prst="roundRect">
            <a:avLst/>
          </a:prstGeom>
          <a:solidFill>
            <a:srgbClr val="161B22"/>
          </a:solidFill>
          <a:ln w="6350">
            <a:solidFill>
              <a:srgbClr val="3333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6492240" y="4681728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CFA33B"/>
                </a:solidFill>
                <a:latin typeface="Microsoft YaHei"/>
              </a:defRPr>
            </a:pPr>
            <a:r>
              <a:t>planet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8503920" y="4700016"/>
            <a:ext cx="1097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BBBBBB"/>
                </a:solidFill>
                <a:latin typeface="Microsoft YaHei"/>
              </a:defRPr>
            </a:pPr>
            <a:r>
              <a:t>星球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9601200" y="4700016"/>
            <a:ext cx="1828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999999"/>
                </a:solidFill>
                <a:latin typeface="Microsoft YaHei"/>
              </a:defRPr>
            </a:pPr>
            <a:r>
              <a:t>Thousands of planets belong to the Imperium.</a:t>
            </a:r>
          </a:p>
        </p:txBody>
      </p:sp>
      <p:sp>
        <p:nvSpPr>
          <p:cNvPr id="41" name="Rounded Rectangle 40"/>
          <p:cNvSpPr/>
          <p:nvPr/>
        </p:nvSpPr>
        <p:spPr>
          <a:xfrm>
            <a:off x="6217920" y="5596128"/>
            <a:ext cx="5394960" cy="868680"/>
          </a:xfrm>
          <a:prstGeom prst="roundRect">
            <a:avLst/>
          </a:prstGeom>
          <a:solidFill>
            <a:srgbClr val="161B22"/>
          </a:solidFill>
          <a:ln w="6350">
            <a:solidFill>
              <a:srgbClr val="3333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6492240" y="5669280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CFA33B"/>
                </a:solidFill>
                <a:latin typeface="Microsoft YaHei"/>
              </a:defRPr>
            </a:pPr>
            <a:r>
              <a:t>fleet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8503920" y="5687568"/>
            <a:ext cx="1097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BBBBBB"/>
                </a:solidFill>
                <a:latin typeface="Microsoft YaHei"/>
              </a:defRPr>
            </a:pPr>
            <a:r>
              <a:t>舰队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9601200" y="5687568"/>
            <a:ext cx="1828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999999"/>
                </a:solidFill>
                <a:latin typeface="Microsoft YaHei"/>
              </a:defRPr>
            </a:pPr>
            <a:r>
              <a:t>A fleet of warships entered orbit.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0E1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45720"/>
          </a:xfrm>
          <a:prstGeom prst="rect">
            <a:avLst/>
          </a:prstGeom>
          <a:solidFill>
            <a:srgbClr val="CFA3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4000" b="1">
                <a:solidFill>
                  <a:srgbClr val="CFA33B"/>
                </a:solidFill>
                <a:latin typeface="Microsoft YaHei"/>
              </a:defRPr>
            </a:pPr>
            <a:r>
              <a:t>Key Vocabulary — Part 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91440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0">
                <a:solidFill>
                  <a:srgbClr val="BBBBBB"/>
                </a:solidFill>
                <a:latin typeface="Microsoft YaHei"/>
              </a:defRPr>
            </a:pPr>
            <a:r>
              <a:t>Characters &amp; Actions · 角色与动作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57200" y="1645920"/>
            <a:ext cx="5394960" cy="868680"/>
          </a:xfrm>
          <a:prstGeom prst="roundRect">
            <a:avLst/>
          </a:prstGeom>
          <a:solidFill>
            <a:srgbClr val="161B22"/>
          </a:solidFill>
          <a:ln w="6350">
            <a:solidFill>
              <a:srgbClr val="3333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1719072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CFA33B"/>
                </a:solidFill>
                <a:latin typeface="Microsoft YaHei"/>
              </a:defRPr>
            </a:pPr>
            <a:r>
              <a:t>warrior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743200" y="1737360"/>
            <a:ext cx="1097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BBBBBB"/>
                </a:solidFill>
                <a:latin typeface="Microsoft YaHei"/>
              </a:defRPr>
            </a:pPr>
            <a:r>
              <a:t>战士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840480" y="1737360"/>
            <a:ext cx="1828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999999"/>
                </a:solidFill>
                <a:latin typeface="Microsoft YaHei"/>
              </a:defRPr>
            </a:pPr>
            <a:r>
              <a:t>He is a fearless warrior.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2633472"/>
            <a:ext cx="5394960" cy="868680"/>
          </a:xfrm>
          <a:prstGeom prst="roundRect">
            <a:avLst/>
          </a:prstGeom>
          <a:solidFill>
            <a:srgbClr val="161B22"/>
          </a:solidFill>
          <a:ln w="6350">
            <a:solidFill>
              <a:srgbClr val="3333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31520" y="2706624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CFA33B"/>
                </a:solidFill>
                <a:latin typeface="Microsoft YaHei"/>
              </a:defRPr>
            </a:pPr>
            <a:r>
              <a:t>alien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743200" y="2724912"/>
            <a:ext cx="1097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BBBBBB"/>
                </a:solidFill>
                <a:latin typeface="Microsoft YaHei"/>
              </a:defRPr>
            </a:pPr>
            <a:r>
              <a:t>外星人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840480" y="2724912"/>
            <a:ext cx="1828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999999"/>
                </a:solidFill>
                <a:latin typeface="Microsoft YaHei"/>
              </a:defRPr>
            </a:pPr>
            <a:r>
              <a:t>Orks are an alien species.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57200" y="3621024"/>
            <a:ext cx="5394960" cy="868680"/>
          </a:xfrm>
          <a:prstGeom prst="roundRect">
            <a:avLst/>
          </a:prstGeom>
          <a:solidFill>
            <a:srgbClr val="161B22"/>
          </a:solidFill>
          <a:ln w="6350">
            <a:solidFill>
              <a:srgbClr val="3333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31520" y="3694176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CFA33B"/>
                </a:solidFill>
                <a:latin typeface="Microsoft YaHei"/>
              </a:defRPr>
            </a:pPr>
            <a:r>
              <a:t>knight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743200" y="3712464"/>
            <a:ext cx="1097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BBBBBB"/>
                </a:solidFill>
                <a:latin typeface="Microsoft YaHei"/>
              </a:defRPr>
            </a:pPr>
            <a:r>
              <a:t>骑士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840480" y="3712464"/>
            <a:ext cx="1828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999999"/>
                </a:solidFill>
                <a:latin typeface="Microsoft YaHei"/>
              </a:defRPr>
            </a:pPr>
            <a:r>
              <a:t>Imperial Knights are giant robots.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457200" y="4608576"/>
            <a:ext cx="5394960" cy="868680"/>
          </a:xfrm>
          <a:prstGeom prst="roundRect">
            <a:avLst/>
          </a:prstGeom>
          <a:solidFill>
            <a:srgbClr val="161B22"/>
          </a:solidFill>
          <a:ln w="6350">
            <a:solidFill>
              <a:srgbClr val="3333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31520" y="4681728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CFA33B"/>
                </a:solidFill>
                <a:latin typeface="Microsoft YaHei"/>
              </a:defRPr>
            </a:pPr>
            <a:r>
              <a:t>survivor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743200" y="4700016"/>
            <a:ext cx="1097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BBBBBB"/>
                </a:solidFill>
                <a:latin typeface="Microsoft YaHei"/>
              </a:defRPr>
            </a:pPr>
            <a:r>
              <a:t>幸存者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840480" y="4700016"/>
            <a:ext cx="1828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999999"/>
                </a:solidFill>
                <a:latin typeface="Microsoft YaHei"/>
              </a:defRPr>
            </a:pPr>
            <a:r>
              <a:t>She is the only survivor.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457200" y="5596128"/>
            <a:ext cx="5394960" cy="868680"/>
          </a:xfrm>
          <a:prstGeom prst="roundRect">
            <a:avLst/>
          </a:prstGeom>
          <a:solidFill>
            <a:srgbClr val="161B22"/>
          </a:solidFill>
          <a:ln w="6350">
            <a:solidFill>
              <a:srgbClr val="3333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731520" y="5669280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CFA33B"/>
                </a:solidFill>
                <a:latin typeface="Microsoft YaHei"/>
              </a:defRPr>
            </a:pPr>
            <a:r>
              <a:t>traitor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2743200" y="5687568"/>
            <a:ext cx="1097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BBBBBB"/>
                </a:solidFill>
                <a:latin typeface="Microsoft YaHei"/>
              </a:defRPr>
            </a:pPr>
            <a:r>
              <a:t>叛徒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3840480" y="5687568"/>
            <a:ext cx="1828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999999"/>
                </a:solidFill>
                <a:latin typeface="Microsoft YaHei"/>
              </a:defRPr>
            </a:pPr>
            <a:r>
              <a:t>The traitor joined the enemy.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6217920" y="1645920"/>
            <a:ext cx="5394960" cy="868680"/>
          </a:xfrm>
          <a:prstGeom prst="roundRect">
            <a:avLst/>
          </a:prstGeom>
          <a:solidFill>
            <a:srgbClr val="161B22"/>
          </a:solidFill>
          <a:ln w="6350">
            <a:solidFill>
              <a:srgbClr val="3333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492240" y="1719072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CFA33B"/>
                </a:solidFill>
                <a:latin typeface="Microsoft YaHei"/>
              </a:defRPr>
            </a:pPr>
            <a:r>
              <a:t>defend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503920" y="1737360"/>
            <a:ext cx="1097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BBBBBB"/>
                </a:solidFill>
                <a:latin typeface="Microsoft YaHei"/>
              </a:defRPr>
            </a:pPr>
            <a:r>
              <a:t>防守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601200" y="1737360"/>
            <a:ext cx="1828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999999"/>
                </a:solidFill>
                <a:latin typeface="Microsoft YaHei"/>
              </a:defRPr>
            </a:pPr>
            <a:r>
              <a:t>We must defend our home.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6217920" y="2633472"/>
            <a:ext cx="5394960" cy="868680"/>
          </a:xfrm>
          <a:prstGeom prst="roundRect">
            <a:avLst/>
          </a:prstGeom>
          <a:solidFill>
            <a:srgbClr val="161B22"/>
          </a:solidFill>
          <a:ln w="6350">
            <a:solidFill>
              <a:srgbClr val="3333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6492240" y="2706624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CFA33B"/>
                </a:solidFill>
                <a:latin typeface="Microsoft YaHei"/>
              </a:defRPr>
            </a:pPr>
            <a:r>
              <a:t>attack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8503920" y="2724912"/>
            <a:ext cx="1097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BBBBBB"/>
                </a:solidFill>
                <a:latin typeface="Microsoft YaHei"/>
              </a:defRPr>
            </a:pPr>
            <a:r>
              <a:t>攻击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9601200" y="2724912"/>
            <a:ext cx="1828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999999"/>
                </a:solidFill>
                <a:latin typeface="Microsoft YaHei"/>
              </a:defRPr>
            </a:pPr>
            <a:r>
              <a:t>The Orks attacked at dawn.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6217920" y="3621024"/>
            <a:ext cx="5394960" cy="868680"/>
          </a:xfrm>
          <a:prstGeom prst="roundRect">
            <a:avLst/>
          </a:prstGeom>
          <a:solidFill>
            <a:srgbClr val="161B22"/>
          </a:solidFill>
          <a:ln w="6350">
            <a:solidFill>
              <a:srgbClr val="3333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6492240" y="3694176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CFA33B"/>
                </a:solidFill>
                <a:latin typeface="Microsoft YaHei"/>
              </a:defRPr>
            </a:pPr>
            <a:r>
              <a:t>destroy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8503920" y="3712464"/>
            <a:ext cx="1097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BBBBBB"/>
                </a:solidFill>
                <a:latin typeface="Microsoft YaHei"/>
              </a:defRPr>
            </a:pPr>
            <a:r>
              <a:t>摧毁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9601200" y="3712464"/>
            <a:ext cx="1828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999999"/>
                </a:solidFill>
                <a:latin typeface="Microsoft YaHei"/>
              </a:defRPr>
            </a:pPr>
            <a:r>
              <a:t>The weapon can destroy planets.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6217920" y="4608576"/>
            <a:ext cx="5394960" cy="868680"/>
          </a:xfrm>
          <a:prstGeom prst="roundRect">
            <a:avLst/>
          </a:prstGeom>
          <a:solidFill>
            <a:srgbClr val="161B22"/>
          </a:solidFill>
          <a:ln w="6350">
            <a:solidFill>
              <a:srgbClr val="3333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6492240" y="4681728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CFA33B"/>
                </a:solidFill>
                <a:latin typeface="Microsoft YaHei"/>
              </a:defRPr>
            </a:pPr>
            <a:r>
              <a:t>survive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8503920" y="4700016"/>
            <a:ext cx="1097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BBBBBB"/>
                </a:solidFill>
                <a:latin typeface="Microsoft YaHei"/>
              </a:defRPr>
            </a:pPr>
            <a:r>
              <a:t>生存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9601200" y="4700016"/>
            <a:ext cx="1828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999999"/>
                </a:solidFill>
                <a:latin typeface="Microsoft YaHei"/>
              </a:defRPr>
            </a:pPr>
            <a:r>
              <a:t>Only the strongest survive.</a:t>
            </a:r>
          </a:p>
        </p:txBody>
      </p:sp>
      <p:sp>
        <p:nvSpPr>
          <p:cNvPr id="41" name="Rounded Rectangle 40"/>
          <p:cNvSpPr/>
          <p:nvPr/>
        </p:nvSpPr>
        <p:spPr>
          <a:xfrm>
            <a:off x="6217920" y="5596128"/>
            <a:ext cx="5394960" cy="868680"/>
          </a:xfrm>
          <a:prstGeom prst="roundRect">
            <a:avLst/>
          </a:prstGeom>
          <a:solidFill>
            <a:srgbClr val="161B22"/>
          </a:solidFill>
          <a:ln w="6350">
            <a:solidFill>
              <a:srgbClr val="3333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6492240" y="5669280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CFA33B"/>
                </a:solidFill>
                <a:latin typeface="Microsoft YaHei"/>
              </a:defRPr>
            </a:pPr>
            <a:r>
              <a:t>protect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8503920" y="5687568"/>
            <a:ext cx="1097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BBBBBB"/>
                </a:solidFill>
                <a:latin typeface="Microsoft YaHei"/>
              </a:defRPr>
            </a:pPr>
            <a:r>
              <a:t>保护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9601200" y="5687568"/>
            <a:ext cx="1828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999999"/>
                </a:solidFill>
                <a:latin typeface="Microsoft YaHei"/>
              </a:defRPr>
            </a:pPr>
            <a:r>
              <a:t>They protect the Emperor.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0E1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45720"/>
          </a:xfrm>
          <a:prstGeom prst="rect">
            <a:avLst/>
          </a:prstGeom>
          <a:solidFill>
            <a:srgbClr val="3B82C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4000" b="1">
                <a:solidFill>
                  <a:srgbClr val="3B82CF"/>
                </a:solidFill>
                <a:latin typeface="Microsoft YaHei"/>
              </a:defRPr>
            </a:pPr>
            <a:r>
              <a:t>🛡️ The Imperium of Man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00584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700" b="0">
                <a:solidFill>
                  <a:srgbClr val="BBBBBB"/>
                </a:solidFill>
                <a:latin typeface="Microsoft YaHei"/>
              </a:defRPr>
            </a:pPr>
            <a:r>
              <a:t>The largest human empire — but old, afraid, and always at war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57200" y="1828800"/>
            <a:ext cx="5394960" cy="2103120"/>
          </a:xfrm>
          <a:prstGeom prst="roundRect">
            <a:avLst/>
          </a:prstGeom>
          <a:solidFill>
            <a:srgbClr val="161B22"/>
          </a:solidFill>
          <a:ln w="6350">
            <a:solidFill>
              <a:srgbClr val="3333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2011680"/>
            <a:ext cx="4846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3B82CF"/>
                </a:solidFill>
                <a:latin typeface="Microsoft YaHei"/>
              </a:defRPr>
            </a:pPr>
            <a:r>
              <a:t>👤 Space Marines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2560320"/>
            <a:ext cx="48463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BBBBBB"/>
                </a:solidFill>
                <a:latin typeface="Microsoft YaHei"/>
              </a:defRPr>
            </a:pPr>
            <a:r>
              <a:t>Superhuman warriors</a:t>
            </a:r>
            <a:br/>
            <a:r>
              <a:t>2.5m tall, power armor</a:t>
            </a:r>
            <a:br/>
            <a:r>
              <a:t>Live for centuries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17920" y="1828800"/>
            <a:ext cx="5394960" cy="2103120"/>
          </a:xfrm>
          <a:prstGeom prst="roundRect">
            <a:avLst/>
          </a:prstGeom>
          <a:solidFill>
            <a:srgbClr val="161B22"/>
          </a:solidFill>
          <a:ln w="6350">
            <a:solidFill>
              <a:srgbClr val="3333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92240" y="2011680"/>
            <a:ext cx="4846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3B82CF"/>
                </a:solidFill>
                <a:latin typeface="Microsoft YaHei"/>
              </a:defRPr>
            </a:pPr>
            <a:r>
              <a:t>👥 Imperial Guard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92240" y="2560320"/>
            <a:ext cx="48463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BBBBBB"/>
                </a:solidFill>
                <a:latin typeface="Microsoft YaHei"/>
              </a:defRPr>
            </a:pPr>
            <a:r>
              <a:t>Billions of ordinary soldiers</a:t>
            </a:r>
            <a:br/>
            <a:r>
              <a:t>Tanks and artillery</a:t>
            </a:r>
            <a:br/>
            <a:r>
              <a:t>Strength in numbers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57200" y="4206240"/>
            <a:ext cx="5394960" cy="2103120"/>
          </a:xfrm>
          <a:prstGeom prst="roundRect">
            <a:avLst/>
          </a:prstGeom>
          <a:solidFill>
            <a:srgbClr val="161B22"/>
          </a:solidFill>
          <a:ln w="6350">
            <a:solidFill>
              <a:srgbClr val="3333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31520" y="4389120"/>
            <a:ext cx="4846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3B82CF"/>
                </a:solidFill>
                <a:latin typeface="Microsoft YaHei"/>
              </a:defRPr>
            </a:pPr>
            <a:r>
              <a:t>⚙️ Adeptus Mechanicus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31520" y="4937760"/>
            <a:ext cx="48463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BBBBBB"/>
                </a:solidFill>
                <a:latin typeface="Microsoft YaHei"/>
              </a:defRPr>
            </a:pPr>
            <a:r>
              <a:t>Tech-priests from Mars</a:t>
            </a:r>
            <a:br/>
            <a:r>
              <a:t>Worship the Machine God</a:t>
            </a:r>
            <a:br/>
            <a:r>
              <a:t>Control all technology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217920" y="4206240"/>
            <a:ext cx="5394960" cy="2103120"/>
          </a:xfrm>
          <a:prstGeom prst="roundRect">
            <a:avLst/>
          </a:prstGeom>
          <a:solidFill>
            <a:srgbClr val="161B22"/>
          </a:solidFill>
          <a:ln w="6350">
            <a:solidFill>
              <a:srgbClr val="3333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92240" y="4389120"/>
            <a:ext cx="4846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3B82CF"/>
                </a:solidFill>
                <a:latin typeface="Microsoft YaHei"/>
              </a:defRPr>
            </a:pPr>
            <a:r>
              <a:t>🔥 Sisters of Battle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92240" y="4937760"/>
            <a:ext cx="48463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BBBBBB"/>
                </a:solidFill>
                <a:latin typeface="Microsoft YaHei"/>
              </a:defRPr>
            </a:pPr>
            <a:r>
              <a:t>Religious warriors</a:t>
            </a:r>
            <a:br/>
            <a:r>
              <a:t>Faith and fire</a:t>
            </a:r>
            <a:br/>
            <a:r>
              <a:t>No fear, no retreat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0E1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45720"/>
          </a:xfrm>
          <a:prstGeom prst="rect">
            <a:avLst/>
          </a:prstGeom>
          <a:solidFill>
            <a:srgbClr val="CF3B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4000" b="1">
                <a:solidFill>
                  <a:srgbClr val="CF3B3B"/>
                </a:solidFill>
                <a:latin typeface="Microsoft YaHei"/>
              </a:defRPr>
            </a:pPr>
            <a:r>
              <a:t>👁️ Chaos — The Dark Gods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00584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700" b="0">
                <a:solidFill>
                  <a:srgbClr val="BBBBBB"/>
                </a:solidFill>
                <a:latin typeface="Microsoft YaHei"/>
              </a:defRPr>
            </a:pPr>
            <a:r>
              <a:t>From the Warp — a dimension of emotions, nightmares, and dark power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57200" y="1828800"/>
            <a:ext cx="2651760" cy="3474720"/>
          </a:xfrm>
          <a:prstGeom prst="roundRect">
            <a:avLst/>
          </a:prstGeom>
          <a:solidFill>
            <a:srgbClr val="161B22"/>
          </a:solidFill>
          <a:ln w="6350">
            <a:solidFill>
              <a:srgbClr val="3333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0080" y="2011680"/>
            <a:ext cx="2286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000" b="0">
                <a:solidFill>
                  <a:srgbClr val="F0F0F0"/>
                </a:solidFill>
                <a:latin typeface="Microsoft YaHei"/>
              </a:defRPr>
            </a:pPr>
            <a:r>
              <a:t>💀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2560320"/>
            <a:ext cx="2286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600" b="1">
                <a:solidFill>
                  <a:srgbClr val="CF3B3B"/>
                </a:solidFill>
                <a:latin typeface="Microsoft YaHei"/>
              </a:defRPr>
            </a:pPr>
            <a:r>
              <a:t>Khorne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3108960"/>
            <a:ext cx="22860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500" b="0">
                <a:solidFill>
                  <a:srgbClr val="BBBBBB"/>
                </a:solidFill>
                <a:latin typeface="Microsoft YaHei"/>
              </a:defRPr>
            </a:pPr>
            <a:r>
              <a:t>God of War</a:t>
            </a:r>
            <a:br/>
            <a:r>
              <a:t>Rage, Blood, Honor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337560" y="1828800"/>
            <a:ext cx="2651760" cy="3474720"/>
          </a:xfrm>
          <a:prstGeom prst="roundRect">
            <a:avLst/>
          </a:prstGeom>
          <a:solidFill>
            <a:srgbClr val="161B22"/>
          </a:solidFill>
          <a:ln w="6350">
            <a:solidFill>
              <a:srgbClr val="3333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520440" y="2011680"/>
            <a:ext cx="2286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000" b="0">
                <a:solidFill>
                  <a:srgbClr val="F0F0F0"/>
                </a:solidFill>
                <a:latin typeface="Microsoft YaHei"/>
              </a:defRPr>
            </a:pPr>
            <a:r>
              <a:t>🦅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520440" y="2560320"/>
            <a:ext cx="2286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600" b="1">
                <a:solidFill>
                  <a:srgbClr val="3B7FCF"/>
                </a:solidFill>
                <a:latin typeface="Microsoft YaHei"/>
              </a:defRPr>
            </a:pPr>
            <a:r>
              <a:t>Tzeentch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520440" y="3108960"/>
            <a:ext cx="22860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500" b="0">
                <a:solidFill>
                  <a:srgbClr val="BBBBBB"/>
                </a:solidFill>
                <a:latin typeface="Microsoft YaHei"/>
              </a:defRPr>
            </a:pPr>
            <a:r>
              <a:t>God of Change</a:t>
            </a:r>
            <a:br/>
            <a:r>
              <a:t>Magic, Schemes, Fate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217920" y="1828800"/>
            <a:ext cx="2651760" cy="3474720"/>
          </a:xfrm>
          <a:prstGeom prst="roundRect">
            <a:avLst/>
          </a:prstGeom>
          <a:solidFill>
            <a:srgbClr val="161B22"/>
          </a:solidFill>
          <a:ln w="6350">
            <a:solidFill>
              <a:srgbClr val="3333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00800" y="2011680"/>
            <a:ext cx="2286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000" b="0">
                <a:solidFill>
                  <a:srgbClr val="F0F0F0"/>
                </a:solidFill>
                <a:latin typeface="Microsoft YaHei"/>
              </a:defRPr>
            </a:pPr>
            <a:r>
              <a:t>🦠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00800" y="2560320"/>
            <a:ext cx="2286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600" b="1">
                <a:solidFill>
                  <a:srgbClr val="8BBF3B"/>
                </a:solidFill>
                <a:latin typeface="Microsoft YaHei"/>
              </a:defRPr>
            </a:pPr>
            <a:r>
              <a:t>Nurgle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00800" y="3108960"/>
            <a:ext cx="22860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500" b="0">
                <a:solidFill>
                  <a:srgbClr val="BBBBBB"/>
                </a:solidFill>
                <a:latin typeface="Microsoft YaHei"/>
              </a:defRPr>
            </a:pPr>
            <a:r>
              <a:t>God of Decay</a:t>
            </a:r>
            <a:br/>
            <a:r>
              <a:t>Disease, Despair, Rebirth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9098280" y="1828800"/>
            <a:ext cx="2651760" cy="3474720"/>
          </a:xfrm>
          <a:prstGeom prst="roundRect">
            <a:avLst/>
          </a:prstGeom>
          <a:solidFill>
            <a:srgbClr val="161B22"/>
          </a:solidFill>
          <a:ln w="6350">
            <a:solidFill>
              <a:srgbClr val="3333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281160" y="2011680"/>
            <a:ext cx="2286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000" b="0">
                <a:solidFill>
                  <a:srgbClr val="F0F0F0"/>
                </a:solidFill>
                <a:latin typeface="Microsoft YaHei"/>
              </a:defRPr>
            </a:pPr>
            <a:r>
              <a:t>💎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281160" y="2560320"/>
            <a:ext cx="2286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600" b="1">
                <a:solidFill>
                  <a:srgbClr val="CF6BBF"/>
                </a:solidFill>
                <a:latin typeface="Microsoft YaHei"/>
              </a:defRPr>
            </a:pPr>
            <a:r>
              <a:t>Slaanesh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281160" y="3108960"/>
            <a:ext cx="22860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500" b="0">
                <a:solidFill>
                  <a:srgbClr val="BBBBBB"/>
                </a:solidFill>
                <a:latin typeface="Microsoft YaHei"/>
              </a:defRPr>
            </a:pPr>
            <a:r>
              <a:t>God of Excess</a:t>
            </a:r>
            <a:br/>
            <a:r>
              <a:t>Pleasure, Pain, Obsession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14400" y="566928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0">
                <a:solidFill>
                  <a:srgbClr val="3BBFBF"/>
                </a:solidFill>
                <a:latin typeface="Microsoft YaHei"/>
              </a:defRPr>
            </a:pPr>
            <a:r>
              <a:t>💡 Key Words: chaos · corruption · temptation · power · darkness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0E1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45720"/>
          </a:xfrm>
          <a:prstGeom prst="rect">
            <a:avLst/>
          </a:prstGeom>
          <a:solidFill>
            <a:srgbClr val="4B8F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4000" b="1">
                <a:solidFill>
                  <a:srgbClr val="4B8F3B"/>
                </a:solidFill>
                <a:latin typeface="Microsoft YaHei"/>
              </a:defRPr>
            </a:pPr>
            <a:r>
              <a:t>🍄 The Orks — WAAAGH!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00584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700" b="0">
                <a:solidFill>
                  <a:srgbClr val="BBBBBB"/>
                </a:solidFill>
                <a:latin typeface="Microsoft YaHei"/>
              </a:defRPr>
            </a:pPr>
            <a:r>
              <a:t>Green, loud, and they think red cars go faster — so they DO!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57200" y="1828800"/>
            <a:ext cx="6858000" cy="4389120"/>
          </a:xfrm>
          <a:prstGeom prst="roundRect">
            <a:avLst/>
          </a:prstGeom>
          <a:solidFill>
            <a:srgbClr val="161B22"/>
          </a:solidFill>
          <a:ln w="6350">
            <a:solidFill>
              <a:srgbClr val="3333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2011680"/>
            <a:ext cx="621792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300"/>
              </a:spcAft>
              <a:defRPr sz="2600" b="1">
                <a:solidFill>
                  <a:srgbClr val="4B8F3B"/>
                </a:solidFill>
                <a:latin typeface="Microsoft YaHei"/>
              </a:defRPr>
            </a:pPr>
            <a:r>
              <a:t>Who are the Orks?</a:t>
            </a:r>
          </a:p>
          <a:p>
            <a:pPr>
              <a:spcAft>
                <a:spcPts val="500"/>
              </a:spcAft>
              <a:defRPr sz="1000" b="0">
                <a:solidFill>
                  <a:srgbClr val="F0F0F0"/>
                </a:solidFill>
                <a:latin typeface="Microsoft YaHei"/>
              </a:defRPr>
            </a:pPr>
          </a:p>
          <a:p>
            <a:pPr>
              <a:spcAft>
                <a:spcPts val="900"/>
              </a:spcAft>
              <a:defRPr sz="1800" b="0">
                <a:solidFill>
                  <a:srgbClr val="F0F0F0"/>
                </a:solidFill>
                <a:latin typeface="Microsoft YaHei"/>
              </a:defRPr>
            </a:pPr>
            <a:r>
              <a:t>👽 Green-skinned alien warriors who LOVE fighting</a:t>
            </a:r>
          </a:p>
          <a:p>
            <a:pPr>
              <a:spcAft>
                <a:spcPts val="400"/>
              </a:spcAft>
              <a:defRPr sz="800" b="0">
                <a:solidFill>
                  <a:srgbClr val="F0F0F0"/>
                </a:solidFill>
                <a:latin typeface="Microsoft YaHei"/>
              </a:defRPr>
            </a:pPr>
          </a:p>
          <a:p>
            <a:pPr>
              <a:spcAft>
                <a:spcPts val="900"/>
              </a:spcAft>
              <a:defRPr sz="1800" b="0">
                <a:solidFill>
                  <a:srgbClr val="F0F0F0"/>
                </a:solidFill>
                <a:latin typeface="Microsoft YaHei"/>
              </a:defRPr>
            </a:pPr>
            <a:r>
              <a:t>🍄 They grow from spores like mushrooms!</a:t>
            </a:r>
          </a:p>
          <a:p>
            <a:pPr>
              <a:spcAft>
                <a:spcPts val="500"/>
              </a:spcAft>
              <a:defRPr sz="1000" b="0">
                <a:solidFill>
                  <a:srgbClr val="F0F0F0"/>
                </a:solidFill>
                <a:latin typeface="Microsoft YaHei"/>
              </a:defRPr>
            </a:pPr>
          </a:p>
          <a:p>
            <a:pPr>
              <a:spcAft>
                <a:spcPts val="1300"/>
              </a:spcAft>
              <a:defRPr sz="2600" b="1">
                <a:solidFill>
                  <a:srgbClr val="4B8F3B"/>
                </a:solidFill>
                <a:latin typeface="Microsoft YaHei"/>
              </a:defRPr>
            </a:pPr>
            <a:r>
              <a:t>The WAAAGH! Effect</a:t>
            </a:r>
          </a:p>
          <a:p>
            <a:pPr>
              <a:spcAft>
                <a:spcPts val="500"/>
              </a:spcAft>
              <a:defRPr sz="1000" b="0">
                <a:solidFill>
                  <a:srgbClr val="F0F0F0"/>
                </a:solidFill>
                <a:latin typeface="Microsoft YaHei"/>
              </a:defRPr>
            </a:pPr>
          </a:p>
          <a:p>
            <a:pPr>
              <a:spcAft>
                <a:spcPts val="900"/>
              </a:spcAft>
              <a:defRPr sz="1800" b="0">
                <a:solidFill>
                  <a:srgbClr val="F0F0F0"/>
                </a:solidFill>
                <a:latin typeface="Microsoft YaHei"/>
              </a:defRPr>
            </a:pPr>
            <a:r>
              <a:t>🧠 Orks share a psychic field — if they all BELIEVE</a:t>
            </a:r>
          </a:p>
          <a:p>
            <a:pPr>
              <a:spcAft>
                <a:spcPts val="900"/>
              </a:spcAft>
              <a:defRPr sz="1800" b="0">
                <a:solidFill>
                  <a:srgbClr val="F0F0F0"/>
                </a:solidFill>
                <a:latin typeface="Microsoft YaHei"/>
              </a:defRPr>
            </a:pPr>
            <a:r>
              <a:t>    something is true, it BECOMES true!</a:t>
            </a:r>
          </a:p>
          <a:p>
            <a:pPr>
              <a:spcAft>
                <a:spcPts val="400"/>
              </a:spcAft>
              <a:defRPr sz="800" b="0">
                <a:solidFill>
                  <a:srgbClr val="F0F0F0"/>
                </a:solidFill>
                <a:latin typeface="Microsoft YaHei"/>
              </a:defRPr>
            </a:pPr>
          </a:p>
          <a:p>
            <a:pPr>
              <a:spcAft>
                <a:spcPts val="900"/>
              </a:spcAft>
              <a:defRPr sz="1800" b="0">
                <a:solidFill>
                  <a:srgbClr val="F0F0F0"/>
                </a:solidFill>
                <a:latin typeface="Microsoft YaHei"/>
              </a:defRPr>
            </a:pPr>
            <a:r>
              <a:t>🔴 "Red ones go faster!" — and they actually do!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772400" y="1828800"/>
            <a:ext cx="3931920" cy="4389120"/>
          </a:xfrm>
          <a:prstGeom prst="roundRect">
            <a:avLst/>
          </a:prstGeom>
          <a:solidFill>
            <a:srgbClr val="161B22"/>
          </a:solidFill>
          <a:ln w="6350">
            <a:solidFill>
              <a:srgbClr val="3333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229600" y="2011680"/>
            <a:ext cx="320040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100"/>
              </a:spcAft>
              <a:defRPr sz="2200" b="1">
                <a:solidFill>
                  <a:srgbClr val="4B8F3B"/>
                </a:solidFill>
                <a:latin typeface="Microsoft YaHei"/>
              </a:defRPr>
            </a:pPr>
            <a:r>
              <a:t>Ork Dictionary</a:t>
            </a:r>
          </a:p>
          <a:p>
            <a:pPr>
              <a:spcAft>
                <a:spcPts val="500"/>
              </a:spcAft>
              <a:defRPr sz="1000" b="0">
                <a:solidFill>
                  <a:srgbClr val="F0F0F0"/>
                </a:solidFill>
                <a:latin typeface="Microsoft YaHei"/>
              </a:defRPr>
            </a:pPr>
          </a:p>
          <a:p>
            <a:pPr>
              <a:spcAft>
                <a:spcPts val="800"/>
              </a:spcAft>
              <a:defRPr sz="1600" b="0">
                <a:solidFill>
                  <a:srgbClr val="F0F0F0"/>
                </a:solidFill>
                <a:latin typeface="Microsoft YaHei"/>
              </a:defRPr>
            </a:pPr>
            <a:r>
              <a:t>WAAAGH!  →  Let's fight!</a:t>
            </a:r>
          </a:p>
          <a:p>
            <a:pPr>
              <a:spcAft>
                <a:spcPts val="300"/>
              </a:spcAft>
              <a:defRPr sz="600" b="0">
                <a:solidFill>
                  <a:srgbClr val="F0F0F0"/>
                </a:solidFill>
                <a:latin typeface="Microsoft YaHei"/>
              </a:defRPr>
            </a:pPr>
          </a:p>
          <a:p>
            <a:pPr>
              <a:spcAft>
                <a:spcPts val="800"/>
              </a:spcAft>
              <a:defRPr sz="1600" b="0">
                <a:solidFill>
                  <a:srgbClr val="F0F0F0"/>
                </a:solidFill>
                <a:latin typeface="Microsoft YaHei"/>
              </a:defRPr>
            </a:pPr>
            <a:r>
              <a:t>Boyz  →  Soldiers</a:t>
            </a:r>
          </a:p>
          <a:p>
            <a:pPr>
              <a:spcAft>
                <a:spcPts val="300"/>
              </a:spcAft>
              <a:defRPr sz="600" b="0">
                <a:solidFill>
                  <a:srgbClr val="F0F0F0"/>
                </a:solidFill>
                <a:latin typeface="Microsoft YaHei"/>
              </a:defRPr>
            </a:pPr>
          </a:p>
          <a:p>
            <a:pPr>
              <a:spcAft>
                <a:spcPts val="800"/>
              </a:spcAft>
              <a:defRPr sz="1600" b="0">
                <a:solidFill>
                  <a:srgbClr val="F0F0F0"/>
                </a:solidFill>
                <a:latin typeface="Microsoft YaHei"/>
              </a:defRPr>
            </a:pPr>
            <a:r>
              <a:t>Dakka  →  Gunfire</a:t>
            </a:r>
          </a:p>
          <a:p>
            <a:pPr>
              <a:spcAft>
                <a:spcPts val="300"/>
              </a:spcAft>
              <a:defRPr sz="600" b="0">
                <a:solidFill>
                  <a:srgbClr val="F0F0F0"/>
                </a:solidFill>
                <a:latin typeface="Microsoft YaHei"/>
              </a:defRPr>
            </a:pPr>
          </a:p>
          <a:p>
            <a:pPr>
              <a:spcAft>
                <a:spcPts val="800"/>
              </a:spcAft>
              <a:defRPr sz="1600" b="0">
                <a:solidFill>
                  <a:srgbClr val="F0F0F0"/>
                </a:solidFill>
                <a:latin typeface="Microsoft YaHei"/>
              </a:defRPr>
            </a:pPr>
            <a:r>
              <a:t>Choppa  →  Sword/Axe</a:t>
            </a:r>
          </a:p>
          <a:p>
            <a:pPr>
              <a:spcAft>
                <a:spcPts val="300"/>
              </a:spcAft>
              <a:defRPr sz="600" b="0">
                <a:solidFill>
                  <a:srgbClr val="F0F0F0"/>
                </a:solidFill>
                <a:latin typeface="Microsoft YaHei"/>
              </a:defRPr>
            </a:pPr>
          </a:p>
          <a:p>
            <a:pPr>
              <a:spcAft>
                <a:spcPts val="800"/>
              </a:spcAft>
              <a:defRPr sz="1600" b="0">
                <a:solidFill>
                  <a:srgbClr val="F0F0F0"/>
                </a:solidFill>
                <a:latin typeface="Microsoft YaHei"/>
              </a:defRPr>
            </a:pPr>
            <a:r>
              <a:t>Warboss  →  Leader</a:t>
            </a:r>
          </a:p>
          <a:p>
            <a:pPr>
              <a:spcAft>
                <a:spcPts val="300"/>
              </a:spcAft>
              <a:defRPr sz="600" b="0">
                <a:solidFill>
                  <a:srgbClr val="F0F0F0"/>
                </a:solidFill>
                <a:latin typeface="Microsoft YaHei"/>
              </a:defRPr>
            </a:pPr>
          </a:p>
          <a:p>
            <a:pPr>
              <a:spcAft>
                <a:spcPts val="800"/>
              </a:spcAft>
              <a:defRPr sz="1600" b="0">
                <a:solidFill>
                  <a:srgbClr val="F0F0F0"/>
                </a:solidFill>
                <a:latin typeface="Microsoft YaHei"/>
              </a:defRPr>
            </a:pPr>
            <a:r>
              <a:t>Grot  →  Small Ork (slave)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0E1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45720"/>
          </a:xfrm>
          <a:prstGeom prst="rect">
            <a:avLst/>
          </a:prstGeom>
          <a:solidFill>
            <a:srgbClr val="8B5CC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4000" b="1">
                <a:solidFill>
                  <a:srgbClr val="8B5CCF"/>
                </a:solidFill>
                <a:latin typeface="Microsoft YaHei"/>
              </a:defRPr>
            </a:pPr>
            <a:r>
              <a:t>💀 The Necrons — Ancient Androids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00584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700" b="0">
                <a:solidFill>
                  <a:srgbClr val="BBBBBB"/>
                </a:solidFill>
                <a:latin typeface="Microsoft YaHei"/>
              </a:defRPr>
            </a:pPr>
            <a:r>
              <a:t>60 million years old. Immortal machines awakening to reclaim the galaxy.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57200" y="1828800"/>
            <a:ext cx="5486400" cy="4389120"/>
          </a:xfrm>
          <a:prstGeom prst="roundRect">
            <a:avLst/>
          </a:prstGeom>
          <a:solidFill>
            <a:srgbClr val="161B22"/>
          </a:solidFill>
          <a:ln w="6350">
            <a:solidFill>
              <a:srgbClr val="3333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2011680"/>
            <a:ext cx="484632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300"/>
              </a:spcAft>
              <a:defRPr sz="2600" b="1">
                <a:solidFill>
                  <a:srgbClr val="8B5CCF"/>
                </a:solidFill>
                <a:latin typeface="Microsoft YaHei"/>
              </a:defRPr>
            </a:pPr>
            <a:r>
              <a:t>Origin Story</a:t>
            </a:r>
          </a:p>
          <a:p>
            <a:pPr>
              <a:spcAft>
                <a:spcPts val="500"/>
              </a:spcAft>
              <a:defRPr sz="1000" b="0">
                <a:solidFill>
                  <a:srgbClr val="F0F0F0"/>
                </a:solidFill>
                <a:latin typeface="Microsoft YaHei"/>
              </a:defRPr>
            </a:pPr>
          </a:p>
          <a:p>
            <a:pPr>
              <a:spcAft>
                <a:spcPts val="850"/>
              </a:spcAft>
              <a:defRPr sz="1700" b="0">
                <a:solidFill>
                  <a:srgbClr val="F0F0F0"/>
                </a:solidFill>
                <a:latin typeface="Microsoft YaHei"/>
              </a:defRPr>
            </a:pPr>
            <a:r>
              <a:t>🦴 Once the Necrontyr — a short-lived organic race</a:t>
            </a:r>
          </a:p>
          <a:p>
            <a:pPr>
              <a:spcAft>
                <a:spcPts val="400"/>
              </a:spcAft>
              <a:defRPr sz="800" b="0">
                <a:solidFill>
                  <a:srgbClr val="F0F0F0"/>
                </a:solidFill>
                <a:latin typeface="Microsoft YaHei"/>
              </a:defRPr>
            </a:pPr>
          </a:p>
          <a:p>
            <a:pPr>
              <a:spcAft>
                <a:spcPts val="850"/>
              </a:spcAft>
              <a:defRPr sz="1700" b="0">
                <a:solidFill>
                  <a:srgbClr val="F0F0F0"/>
                </a:solidFill>
                <a:latin typeface="Microsoft YaHei"/>
              </a:defRPr>
            </a:pPr>
            <a:r>
              <a:t>🤖 Traded their souls for immortal metal bodies</a:t>
            </a:r>
          </a:p>
          <a:p>
            <a:pPr>
              <a:spcAft>
                <a:spcPts val="500"/>
              </a:spcAft>
              <a:defRPr sz="1000" b="0">
                <a:solidFill>
                  <a:srgbClr val="F0F0F0"/>
                </a:solidFill>
                <a:latin typeface="Microsoft YaHei"/>
              </a:defRPr>
            </a:pPr>
          </a:p>
          <a:p>
            <a:pPr>
              <a:spcAft>
                <a:spcPts val="1300"/>
              </a:spcAft>
              <a:defRPr sz="2600" b="1">
                <a:solidFill>
                  <a:srgbClr val="8B5CCF"/>
                </a:solidFill>
                <a:latin typeface="Microsoft YaHei"/>
              </a:defRPr>
            </a:pPr>
            <a:r>
              <a:t>Key Features</a:t>
            </a:r>
          </a:p>
          <a:p>
            <a:pPr>
              <a:spcAft>
                <a:spcPts val="500"/>
              </a:spcAft>
              <a:defRPr sz="1000" b="0">
                <a:solidFill>
                  <a:srgbClr val="F0F0F0"/>
                </a:solidFill>
                <a:latin typeface="Microsoft YaHei"/>
              </a:defRPr>
            </a:pPr>
          </a:p>
          <a:p>
            <a:pPr>
              <a:spcAft>
                <a:spcPts val="850"/>
              </a:spcAft>
              <a:defRPr sz="1700" b="0">
                <a:solidFill>
                  <a:srgbClr val="F0F0F0"/>
                </a:solidFill>
                <a:latin typeface="Microsoft YaHei"/>
              </a:defRPr>
            </a:pPr>
            <a:r>
              <a:t>🔧 Living metal that repairs itself automatically</a:t>
            </a:r>
          </a:p>
          <a:p>
            <a:pPr>
              <a:spcAft>
                <a:spcPts val="400"/>
              </a:spcAft>
              <a:defRPr sz="800" b="0">
                <a:solidFill>
                  <a:srgbClr val="F0F0F0"/>
                </a:solidFill>
                <a:latin typeface="Microsoft YaHei"/>
              </a:defRPr>
            </a:pPr>
          </a:p>
          <a:p>
            <a:pPr>
              <a:spcAft>
                <a:spcPts val="850"/>
              </a:spcAft>
              <a:defRPr sz="1700" b="0">
                <a:solidFill>
                  <a:srgbClr val="F0F0F0"/>
                </a:solidFill>
                <a:latin typeface="Microsoft YaHei"/>
              </a:defRPr>
            </a:pPr>
            <a:r>
              <a:t>⚡ Most technologically advanced race in the galaxy</a:t>
            </a:r>
          </a:p>
          <a:p>
            <a:pPr>
              <a:spcAft>
                <a:spcPts val="400"/>
              </a:spcAft>
              <a:defRPr sz="800" b="0">
                <a:solidFill>
                  <a:srgbClr val="F0F0F0"/>
                </a:solidFill>
                <a:latin typeface="Microsoft YaHei"/>
              </a:defRPr>
            </a:pPr>
          </a:p>
          <a:p>
            <a:pPr>
              <a:spcAft>
                <a:spcPts val="850"/>
              </a:spcAft>
              <a:defRPr sz="1700" b="0">
                <a:solidFill>
                  <a:srgbClr val="F0F0F0"/>
                </a:solidFill>
                <a:latin typeface="Microsoft YaHei"/>
              </a:defRPr>
            </a:pPr>
            <a:r>
              <a:t>⏰ Slept for 60 million years — now they are awakening!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400800" y="1828800"/>
            <a:ext cx="5303520" cy="4389120"/>
          </a:xfrm>
          <a:prstGeom prst="roundRect">
            <a:avLst/>
          </a:prstGeom>
          <a:solidFill>
            <a:srgbClr val="161B22"/>
          </a:solidFill>
          <a:ln w="6350">
            <a:solidFill>
              <a:srgbClr val="3333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858000" y="2011680"/>
            <a:ext cx="457200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300"/>
              </a:spcAft>
              <a:defRPr sz="2600" b="1">
                <a:solidFill>
                  <a:srgbClr val="8B5CCF"/>
                </a:solidFill>
                <a:latin typeface="Microsoft YaHei"/>
              </a:defRPr>
            </a:pPr>
            <a:r>
              <a:t>Visual Design</a:t>
            </a:r>
          </a:p>
          <a:p>
            <a:pPr>
              <a:spcAft>
                <a:spcPts val="500"/>
              </a:spcAft>
              <a:defRPr sz="1000" b="0">
                <a:solidFill>
                  <a:srgbClr val="F0F0F0"/>
                </a:solidFill>
                <a:latin typeface="Microsoft YaHei"/>
              </a:defRPr>
            </a:pPr>
          </a:p>
          <a:p>
            <a:pPr>
              <a:spcAft>
                <a:spcPts val="900"/>
              </a:spcAft>
              <a:defRPr sz="1800" b="0">
                <a:solidFill>
                  <a:srgbClr val="F0F0F0"/>
                </a:solidFill>
                <a:latin typeface="Microsoft YaHei"/>
              </a:defRPr>
            </a:pPr>
            <a:r>
              <a:t>🏛️ Egyptian-themed skeleton robots</a:t>
            </a:r>
          </a:p>
          <a:p>
            <a:pPr>
              <a:spcAft>
                <a:spcPts val="400"/>
              </a:spcAft>
              <a:defRPr sz="800" b="0">
                <a:solidFill>
                  <a:srgbClr val="F0F0F0"/>
                </a:solidFill>
                <a:latin typeface="Microsoft YaHei"/>
              </a:defRPr>
            </a:pPr>
          </a:p>
          <a:p>
            <a:pPr>
              <a:spcAft>
                <a:spcPts val="900"/>
              </a:spcAft>
              <a:defRPr sz="1800" b="0">
                <a:solidFill>
                  <a:srgbClr val="F0F0F0"/>
                </a:solidFill>
                <a:latin typeface="Microsoft YaHei"/>
              </a:defRPr>
            </a:pPr>
            <a:r>
              <a:t>👑 Ruled by dynasties of overlords</a:t>
            </a:r>
          </a:p>
          <a:p>
            <a:pPr>
              <a:spcAft>
                <a:spcPts val="500"/>
              </a:spcAft>
              <a:defRPr sz="1000" b="0">
                <a:solidFill>
                  <a:srgbClr val="F0F0F0"/>
                </a:solidFill>
                <a:latin typeface="Microsoft YaHei"/>
              </a:defRPr>
            </a:pPr>
          </a:p>
          <a:p>
            <a:pPr>
              <a:spcAft>
                <a:spcPts val="1300"/>
              </a:spcAft>
              <a:defRPr sz="2600" b="1">
                <a:solidFill>
                  <a:srgbClr val="8B5CCF"/>
                </a:solidFill>
                <a:latin typeface="Microsoft YaHei"/>
              </a:defRPr>
            </a:pPr>
            <a:r>
              <a:t>Discussion</a:t>
            </a:r>
          </a:p>
          <a:p>
            <a:pPr>
              <a:spcAft>
                <a:spcPts val="500"/>
              </a:spcAft>
              <a:defRPr sz="1000" b="0">
                <a:solidFill>
                  <a:srgbClr val="F0F0F0"/>
                </a:solidFill>
                <a:latin typeface="Microsoft YaHei"/>
              </a:defRPr>
            </a:pPr>
          </a:p>
          <a:p>
            <a:pPr>
              <a:spcAft>
                <a:spcPts val="900"/>
              </a:spcAft>
              <a:defRPr sz="1800" b="0">
                <a:solidFill>
                  <a:srgbClr val="F0F0F0"/>
                </a:solidFill>
                <a:latin typeface="Microsoft YaHei"/>
              </a:defRPr>
            </a:pPr>
            <a:r>
              <a:t>Would YOU trade your soul</a:t>
            </a:r>
          </a:p>
          <a:p>
            <a:pPr>
              <a:spcAft>
                <a:spcPts val="900"/>
              </a:spcAft>
              <a:defRPr sz="1800" b="0">
                <a:solidFill>
                  <a:srgbClr val="F0F0F0"/>
                </a:solidFill>
                <a:latin typeface="Microsoft YaHei"/>
              </a:defRPr>
            </a:pPr>
            <a:r>
              <a:t>for an immortal body?</a:t>
            </a:r>
          </a:p>
          <a:p>
            <a:pPr>
              <a:spcAft>
                <a:spcPts val="400"/>
              </a:spcAft>
              <a:defRPr sz="800" b="0">
                <a:solidFill>
                  <a:srgbClr val="F0F0F0"/>
                </a:solidFill>
                <a:latin typeface="Microsoft YaHei"/>
              </a:defRPr>
            </a:pPr>
          </a:p>
          <a:p>
            <a:pPr>
              <a:spcAft>
                <a:spcPts val="800"/>
              </a:spcAft>
              <a:defRPr sz="1600" b="0">
                <a:solidFill>
                  <a:srgbClr val="BBBBBB"/>
                </a:solidFill>
                <a:latin typeface="Microsoft YaHei"/>
              </a:defRPr>
            </a:pPr>
            <a:r>
              <a:t>What is more important —</a:t>
            </a:r>
          </a:p>
          <a:p>
            <a:pPr>
              <a:spcAft>
                <a:spcPts val="800"/>
              </a:spcAft>
              <a:defRPr sz="1600" b="0">
                <a:solidFill>
                  <a:srgbClr val="BBBBBB"/>
                </a:solidFill>
                <a:latin typeface="Microsoft YaHei"/>
              </a:defRPr>
            </a:pPr>
            <a:r>
              <a:t>living forever, or being human?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0E1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45720"/>
          </a:xfrm>
          <a:prstGeom prst="rect">
            <a:avLst/>
          </a:prstGeom>
          <a:solidFill>
            <a:srgbClr val="3B82C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4000" b="1">
                <a:solidFill>
                  <a:srgbClr val="3B82CF"/>
                </a:solidFill>
                <a:latin typeface="Microsoft YaHei"/>
              </a:defRPr>
            </a:pPr>
            <a:r>
              <a:t>📖 Reading: A Space Marine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00584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700" b="0">
                <a:solidFill>
                  <a:srgbClr val="BBBBBB"/>
                </a:solidFill>
                <a:latin typeface="Microsoft YaHei"/>
              </a:defRPr>
            </a:pPr>
            <a:r>
              <a:t>Read aloud — then answer the questions!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57200" y="1737360"/>
            <a:ext cx="6858000" cy="2926080"/>
          </a:xfrm>
          <a:prstGeom prst="roundRect">
            <a:avLst/>
          </a:prstGeom>
          <a:solidFill>
            <a:srgbClr val="161B22"/>
          </a:solidFill>
          <a:ln w="6350">
            <a:solidFill>
              <a:srgbClr val="3333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920240"/>
            <a:ext cx="6217920" cy="2560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600" b="0">
                <a:solidFill>
                  <a:srgbClr val="F0F0F0"/>
                </a:solidFill>
                <a:latin typeface="Microsoft YaHei"/>
              </a:defRPr>
            </a:pPr>
          </a:p>
          <a:p>
            <a:pPr>
              <a:spcAft>
                <a:spcPts val="900"/>
              </a:spcAft>
              <a:defRPr sz="1800" b="0">
                <a:solidFill>
                  <a:srgbClr val="F0F0F0"/>
                </a:solidFill>
                <a:latin typeface="Microsoft YaHei"/>
              </a:defRPr>
            </a:pPr>
            <a:r>
              <a:t>My name is Marcus. I am a Space Marine.</a:t>
            </a:r>
          </a:p>
          <a:p>
            <a:pPr>
              <a:spcAft>
                <a:spcPts val="900"/>
              </a:spcAft>
              <a:defRPr sz="1800" b="0">
                <a:solidFill>
                  <a:srgbClr val="F0F0F0"/>
                </a:solidFill>
                <a:latin typeface="Microsoft YaHei"/>
              </a:defRPr>
            </a:pPr>
            <a:r>
              <a:t>I wear blue power armor. I protect humanity</a:t>
            </a:r>
          </a:p>
          <a:p>
            <a:pPr>
              <a:spcAft>
                <a:spcPts val="900"/>
              </a:spcAft>
              <a:defRPr sz="1800" b="0">
                <a:solidFill>
                  <a:srgbClr val="F0F0F0"/>
                </a:solidFill>
                <a:latin typeface="Microsoft YaHei"/>
              </a:defRPr>
            </a:pPr>
            <a:r>
              <a:t>from aliens and monsters.</a:t>
            </a:r>
          </a:p>
          <a:p>
            <a:pPr>
              <a:spcAft>
                <a:spcPts val="400"/>
              </a:spcAft>
              <a:defRPr sz="800" b="0">
                <a:solidFill>
                  <a:srgbClr val="F0F0F0"/>
                </a:solidFill>
                <a:latin typeface="Microsoft YaHei"/>
              </a:defRPr>
            </a:pPr>
          </a:p>
          <a:p>
            <a:pPr>
              <a:spcAft>
                <a:spcPts val="900"/>
              </a:spcAft>
              <a:defRPr sz="1800" b="0">
                <a:solidFill>
                  <a:srgbClr val="F0F0F0"/>
                </a:solidFill>
                <a:latin typeface="Microsoft YaHei"/>
              </a:defRPr>
            </a:pPr>
            <a:r>
              <a:t>My weapon is a bolter. It shoots</a:t>
            </a:r>
          </a:p>
          <a:p>
            <a:pPr>
              <a:spcAft>
                <a:spcPts val="900"/>
              </a:spcAft>
              <a:defRPr sz="1800" b="0">
                <a:solidFill>
                  <a:srgbClr val="F0F0F0"/>
                </a:solidFill>
                <a:latin typeface="Microsoft YaHei"/>
              </a:defRPr>
            </a:pPr>
            <a:r>
              <a:t>explosive bullets. I have fought in</a:t>
            </a:r>
          </a:p>
          <a:p>
            <a:pPr>
              <a:spcAft>
                <a:spcPts val="900"/>
              </a:spcAft>
              <a:defRPr sz="1800" b="0">
                <a:solidFill>
                  <a:srgbClr val="F0F0F0"/>
                </a:solidFill>
                <a:latin typeface="Microsoft YaHei"/>
              </a:defRPr>
            </a:pPr>
            <a:r>
              <a:t>a hundred wars.</a:t>
            </a:r>
          </a:p>
          <a:p>
            <a:pPr>
              <a:spcAft>
                <a:spcPts val="400"/>
              </a:spcAft>
              <a:defRPr sz="800" b="0">
                <a:solidFill>
                  <a:srgbClr val="F0F0F0"/>
                </a:solidFill>
                <a:latin typeface="Microsoft YaHei"/>
              </a:defRPr>
            </a:pPr>
          </a:p>
          <a:p>
            <a:pPr>
              <a:spcAft>
                <a:spcPts val="900"/>
              </a:spcAft>
              <a:defRPr sz="1800" b="0">
                <a:solidFill>
                  <a:srgbClr val="F0F0F0"/>
                </a:solidFill>
                <a:latin typeface="Microsoft YaHei"/>
              </a:defRPr>
            </a:pPr>
            <a:r>
              <a:t>I do not feel fear. I am loyal to the Emperor.</a:t>
            </a:r>
          </a:p>
          <a:p>
            <a:pPr>
              <a:spcAft>
                <a:spcPts val="900"/>
              </a:spcAft>
              <a:defRPr sz="1800" b="0">
                <a:solidFill>
                  <a:srgbClr val="F0F0F0"/>
                </a:solidFill>
                <a:latin typeface="Microsoft YaHei"/>
              </a:defRPr>
            </a:pPr>
            <a:r>
              <a:t>I will protect the Imperium until I die.</a:t>
            </a:r>
          </a:p>
          <a:p>
            <a:pPr>
              <a:spcAft>
                <a:spcPts val="400"/>
              </a:spcAft>
              <a:defRPr sz="800" b="0">
                <a:solidFill>
                  <a:srgbClr val="F0F0F0"/>
                </a:solidFill>
                <a:latin typeface="Microsoft YaHei"/>
              </a:defRPr>
            </a:pPr>
          </a:p>
          <a:p>
            <a:pPr>
              <a:spcAft>
                <a:spcPts val="900"/>
              </a:spcAft>
              <a:defRPr sz="1800" b="0">
                <a:solidFill>
                  <a:srgbClr val="F0F0F0"/>
                </a:solidFill>
                <a:latin typeface="Microsoft YaHei"/>
              </a:defRPr>
            </a:pPr>
            <a:r>
              <a:t>This is my duty. This is my honor.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772400" y="1737360"/>
            <a:ext cx="3931920" cy="2926080"/>
          </a:xfrm>
          <a:prstGeom prst="roundRect">
            <a:avLst/>
          </a:prstGeom>
          <a:solidFill>
            <a:srgbClr val="161B22"/>
          </a:solidFill>
          <a:ln w="6350">
            <a:solidFill>
              <a:srgbClr val="3333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229600" y="1920240"/>
            <a:ext cx="3200400" cy="2560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100"/>
              </a:spcAft>
              <a:defRPr sz="2200" b="1">
                <a:solidFill>
                  <a:srgbClr val="3B82CF"/>
                </a:solidFill>
                <a:latin typeface="Microsoft YaHei"/>
              </a:defRPr>
            </a:pPr>
            <a:r>
              <a:t>Questions</a:t>
            </a:r>
          </a:p>
          <a:p>
            <a:pPr>
              <a:spcAft>
                <a:spcPts val="500"/>
              </a:spcAft>
              <a:defRPr sz="1000" b="0">
                <a:solidFill>
                  <a:srgbClr val="F0F0F0"/>
                </a:solidFill>
                <a:latin typeface="Microsoft YaHei"/>
              </a:defRPr>
            </a:pPr>
          </a:p>
          <a:p>
            <a:pPr>
              <a:spcAft>
                <a:spcPts val="800"/>
              </a:spcAft>
              <a:defRPr sz="1600" b="0">
                <a:solidFill>
                  <a:srgbClr val="F0F0F0"/>
                </a:solidFill>
                <a:latin typeface="Microsoft YaHei"/>
              </a:defRPr>
            </a:pPr>
            <a:r>
              <a:t>1. What color is Marcus's armor?</a:t>
            </a:r>
          </a:p>
          <a:p>
            <a:pPr>
              <a:spcAft>
                <a:spcPts val="300"/>
              </a:spcAft>
              <a:defRPr sz="600" b="0">
                <a:solidFill>
                  <a:srgbClr val="F0F0F0"/>
                </a:solidFill>
                <a:latin typeface="Microsoft YaHei"/>
              </a:defRPr>
            </a:pPr>
          </a:p>
          <a:p>
            <a:pPr>
              <a:spcAft>
                <a:spcPts val="800"/>
              </a:spcAft>
              <a:defRPr sz="1600" b="0">
                <a:solidFill>
                  <a:srgbClr val="F0F0F0"/>
                </a:solidFill>
                <a:latin typeface="Microsoft YaHei"/>
              </a:defRPr>
            </a:pPr>
            <a:r>
              <a:t>2. What is his weapon called?</a:t>
            </a:r>
          </a:p>
          <a:p>
            <a:pPr>
              <a:spcAft>
                <a:spcPts val="300"/>
              </a:spcAft>
              <a:defRPr sz="600" b="0">
                <a:solidFill>
                  <a:srgbClr val="F0F0F0"/>
                </a:solidFill>
                <a:latin typeface="Microsoft YaHei"/>
              </a:defRPr>
            </a:pPr>
          </a:p>
          <a:p>
            <a:pPr>
              <a:spcAft>
                <a:spcPts val="800"/>
              </a:spcAft>
              <a:defRPr sz="1600" b="0">
                <a:solidFill>
                  <a:srgbClr val="F0F0F0"/>
                </a:solidFill>
                <a:latin typeface="Microsoft YaHei"/>
              </a:defRPr>
            </a:pPr>
            <a:r>
              <a:t>3. Who is he loyal to?</a:t>
            </a:r>
          </a:p>
          <a:p>
            <a:pPr>
              <a:spcAft>
                <a:spcPts val="300"/>
              </a:spcAft>
              <a:defRPr sz="600" b="0">
                <a:solidFill>
                  <a:srgbClr val="F0F0F0"/>
                </a:solidFill>
                <a:latin typeface="Microsoft YaHei"/>
              </a:defRPr>
            </a:pPr>
          </a:p>
          <a:p>
            <a:pPr>
              <a:spcAft>
                <a:spcPts val="800"/>
              </a:spcAft>
              <a:defRPr sz="1600" b="0">
                <a:solidFill>
                  <a:srgbClr val="F0F0F0"/>
                </a:solidFill>
                <a:latin typeface="Microsoft YaHei"/>
              </a:defRPr>
            </a:pPr>
            <a:r>
              <a:t>4. What does "duty" mean?</a:t>
            </a:r>
          </a:p>
          <a:p>
            <a:pPr>
              <a:spcAft>
                <a:spcPts val="300"/>
              </a:spcAft>
              <a:defRPr sz="600" b="0">
                <a:solidFill>
                  <a:srgbClr val="F0F0F0"/>
                </a:solidFill>
                <a:latin typeface="Microsoft YaHei"/>
              </a:defRPr>
            </a:pPr>
          </a:p>
          <a:p>
            <a:pPr>
              <a:spcAft>
                <a:spcPts val="800"/>
              </a:spcAft>
              <a:defRPr sz="1600" b="0">
                <a:solidFill>
                  <a:srgbClr val="F0F0F0"/>
                </a:solidFill>
                <a:latin typeface="Microsoft YaHei"/>
              </a:defRPr>
            </a:pPr>
            <a:r>
              <a:t>5. Would YOU be a Space Marine?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5029200"/>
            <a:ext cx="11247120" cy="1371600"/>
          </a:xfrm>
          <a:prstGeom prst="roundRect">
            <a:avLst/>
          </a:prstGeom>
          <a:solidFill>
            <a:srgbClr val="161B22"/>
          </a:solidFill>
          <a:ln w="6350">
            <a:solidFill>
              <a:srgbClr val="3333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14400" y="5212080"/>
            <a:ext cx="10515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  <a:defRPr sz="1800" b="1">
                <a:solidFill>
                  <a:srgbClr val="CFA33B"/>
                </a:solidFill>
                <a:latin typeface="Microsoft YaHei"/>
              </a:defRPr>
            </a:pPr>
            <a:r>
              <a:t>Words to Learn from this Story:</a:t>
            </a:r>
          </a:p>
          <a:p>
            <a:pPr>
              <a:spcAft>
                <a:spcPts val="800"/>
              </a:spcAft>
              <a:defRPr sz="1600" b="0">
                <a:solidFill>
                  <a:srgbClr val="F0F0F0"/>
                </a:solidFill>
                <a:latin typeface="Microsoft YaHei"/>
              </a:defRPr>
            </a:pPr>
            <a:r>
              <a:t>marine · armor · protect · humanity · weapon · bolter · explosive · bullets · fear · loyal · duty · honor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0E1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45720"/>
          </a:xfrm>
          <a:prstGeom prst="rect">
            <a:avLst/>
          </a:prstGeom>
          <a:solidFill>
            <a:srgbClr val="3BBFB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4000" b="1">
                <a:solidFill>
                  <a:srgbClr val="3BBFBF"/>
                </a:solidFill>
                <a:latin typeface="Microsoft YaHei"/>
              </a:defRPr>
            </a:pPr>
            <a:r>
              <a:t>💬 Discussion Time!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00584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700" b="0">
                <a:solidFill>
                  <a:srgbClr val="BBBBBB"/>
                </a:solidFill>
                <a:latin typeface="Microsoft YaHei"/>
              </a:defRPr>
            </a:pPr>
            <a:r>
              <a:t>Talk with your partner — 3 minutes per question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57200" y="1828800"/>
            <a:ext cx="3566160" cy="4114800"/>
          </a:xfrm>
          <a:prstGeom prst="roundRect">
            <a:avLst/>
          </a:prstGeom>
          <a:solidFill>
            <a:srgbClr val="161B22"/>
          </a:solidFill>
          <a:ln w="6350">
            <a:solidFill>
              <a:srgbClr val="3333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2011680"/>
            <a:ext cx="30175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3BBFBF"/>
                </a:solidFill>
                <a:latin typeface="Microsoft YaHei"/>
              </a:defRPr>
            </a:pPr>
            <a:r>
              <a:t>⭐ Easy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2651760"/>
            <a:ext cx="30175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F0F0F0"/>
                </a:solidFill>
                <a:latin typeface="Microsoft YaHei"/>
              </a:defRPr>
            </a:pPr>
            <a:r>
              <a:t>1. Which faction do you like the most? Why?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4114800"/>
            <a:ext cx="30175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F0F0F0"/>
                </a:solidFill>
                <a:latin typeface="Microsoft YaHei"/>
              </a:defRPr>
            </a:pPr>
            <a:r>
              <a:t>2. What color would YOUR power armor be?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297680" y="1828800"/>
            <a:ext cx="3566160" cy="4114800"/>
          </a:xfrm>
          <a:prstGeom prst="roundRect">
            <a:avLst/>
          </a:prstGeom>
          <a:solidFill>
            <a:srgbClr val="161B22"/>
          </a:solidFill>
          <a:ln w="6350">
            <a:solidFill>
              <a:srgbClr val="3333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572000" y="2011680"/>
            <a:ext cx="30175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CFA33B"/>
                </a:solidFill>
                <a:latin typeface="Microsoft YaHei"/>
              </a:defRPr>
            </a:pPr>
            <a:r>
              <a:t>⭐⭐ Medium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0" y="2651760"/>
            <a:ext cx="30175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F0F0F0"/>
                </a:solidFill>
                <a:latin typeface="Microsoft YaHei"/>
              </a:defRPr>
            </a:pPr>
            <a:r>
              <a:t>1. Do you think aliens exist in real life?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72000" y="4114800"/>
            <a:ext cx="30175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F0F0F0"/>
                </a:solidFill>
                <a:latin typeface="Microsoft YaHei"/>
              </a:defRPr>
            </a:pPr>
            <a:r>
              <a:t>2. If you met an Ork, what would you say?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138160" y="1828800"/>
            <a:ext cx="3566160" cy="4114800"/>
          </a:xfrm>
          <a:prstGeom prst="roundRect">
            <a:avLst/>
          </a:prstGeom>
          <a:solidFill>
            <a:srgbClr val="161B22"/>
          </a:solidFill>
          <a:ln w="6350">
            <a:solidFill>
              <a:srgbClr val="3333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412480" y="2011680"/>
            <a:ext cx="30175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CF3B3B"/>
                </a:solidFill>
                <a:latin typeface="Microsoft YaHei"/>
              </a:defRPr>
            </a:pPr>
            <a:r>
              <a:t>⭐⭐⭐ Hard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412480" y="2651760"/>
            <a:ext cx="30175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F0F0F0"/>
                </a:solidFill>
                <a:latin typeface="Microsoft YaHei"/>
              </a:defRPr>
            </a:pPr>
            <a:r>
              <a:t>1. Is it better to be loyal or to be free?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412480" y="4114800"/>
            <a:ext cx="30175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F0F0F0"/>
                </a:solidFill>
                <a:latin typeface="Microsoft YaHei"/>
              </a:defRPr>
            </a:pPr>
            <a:r>
              <a:t>2. The 40K universe has no "good guys." What do you think?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0E1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45720"/>
          </a:xfrm>
          <a:prstGeom prst="rect">
            <a:avLst/>
          </a:prstGeom>
          <a:solidFill>
            <a:srgbClr val="CFA3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4000" b="1">
                <a:solidFill>
                  <a:srgbClr val="CFA33B"/>
                </a:solidFill>
                <a:latin typeface="Microsoft YaHei"/>
              </a:defRPr>
            </a:pPr>
            <a:r>
              <a:t>🎯 Activity: Choose Your Faction!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00584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700" b="0">
                <a:solidFill>
                  <a:srgbClr val="BBBBBB"/>
                </a:solidFill>
                <a:latin typeface="Microsoft YaHei"/>
              </a:defRPr>
            </a:pPr>
            <a:r>
              <a:t>Use these sentence patterns to tell your classmates!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57200" y="1828800"/>
            <a:ext cx="2651760" cy="2926080"/>
          </a:xfrm>
          <a:prstGeom prst="roundRect">
            <a:avLst/>
          </a:prstGeom>
          <a:solidFill>
            <a:srgbClr val="161B22"/>
          </a:solidFill>
          <a:ln w="6350">
            <a:solidFill>
              <a:srgbClr val="3333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0080" y="2011680"/>
            <a:ext cx="2286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000" b="0">
                <a:solidFill>
                  <a:srgbClr val="F0F0F0"/>
                </a:solidFill>
                <a:latin typeface="Microsoft YaHei"/>
              </a:defRPr>
            </a:pPr>
            <a:r>
              <a:t>🛡️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2560320"/>
            <a:ext cx="2286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200" b="1">
                <a:solidFill>
                  <a:srgbClr val="3B82CF"/>
                </a:solidFill>
                <a:latin typeface="Microsoft YaHei"/>
              </a:defRPr>
            </a:pPr>
            <a:r>
              <a:t>Space Marines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3108960"/>
            <a:ext cx="22860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BBBBBB"/>
                </a:solidFill>
                <a:latin typeface="Microsoft YaHei"/>
              </a:defRPr>
            </a:pPr>
            <a:r>
              <a:t>"I choose the Space Marines</a:t>
            </a:r>
            <a:br/>
            <a:r>
              <a:t>because I want to protect people."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337560" y="1828800"/>
            <a:ext cx="2651760" cy="2926080"/>
          </a:xfrm>
          <a:prstGeom prst="roundRect">
            <a:avLst/>
          </a:prstGeom>
          <a:solidFill>
            <a:srgbClr val="161B22"/>
          </a:solidFill>
          <a:ln w="6350">
            <a:solidFill>
              <a:srgbClr val="3333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520440" y="2011680"/>
            <a:ext cx="2286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000" b="0">
                <a:solidFill>
                  <a:srgbClr val="F0F0F0"/>
                </a:solidFill>
                <a:latin typeface="Microsoft YaHei"/>
              </a:defRPr>
            </a:pPr>
            <a:r>
              <a:t>👁️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520440" y="2560320"/>
            <a:ext cx="2286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200" b="1">
                <a:solidFill>
                  <a:srgbClr val="CF3B3B"/>
                </a:solidFill>
                <a:latin typeface="Microsoft YaHei"/>
              </a:defRPr>
            </a:pPr>
            <a:r>
              <a:t>Chaos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520440" y="3108960"/>
            <a:ext cx="22860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BBBBBB"/>
                </a:solidFill>
                <a:latin typeface="Microsoft YaHei"/>
              </a:defRPr>
            </a:pPr>
            <a:r>
              <a:t>"I choose Chaos because</a:t>
            </a:r>
            <a:br/>
            <a:r>
              <a:t>power is the only truth."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217920" y="1828800"/>
            <a:ext cx="2651760" cy="2926080"/>
          </a:xfrm>
          <a:prstGeom prst="roundRect">
            <a:avLst/>
          </a:prstGeom>
          <a:solidFill>
            <a:srgbClr val="161B22"/>
          </a:solidFill>
          <a:ln w="6350">
            <a:solidFill>
              <a:srgbClr val="3333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00800" y="2011680"/>
            <a:ext cx="2286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000" b="0">
                <a:solidFill>
                  <a:srgbClr val="F0F0F0"/>
                </a:solidFill>
                <a:latin typeface="Microsoft YaHei"/>
              </a:defRPr>
            </a:pPr>
            <a:r>
              <a:t>🍄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00800" y="2560320"/>
            <a:ext cx="2286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200" b="1">
                <a:solidFill>
                  <a:srgbClr val="4B8F3B"/>
                </a:solidFill>
                <a:latin typeface="Microsoft YaHei"/>
              </a:defRPr>
            </a:pPr>
            <a:r>
              <a:t>Orks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00800" y="3108960"/>
            <a:ext cx="22860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BBBBBB"/>
                </a:solidFill>
                <a:latin typeface="Microsoft YaHei"/>
              </a:defRPr>
            </a:pPr>
            <a:r>
              <a:t>"I choose Orks because</a:t>
            </a:r>
            <a:br/>
            <a:r>
              <a:t>they know how to have fun!"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9098280" y="1828800"/>
            <a:ext cx="2651760" cy="2926080"/>
          </a:xfrm>
          <a:prstGeom prst="roundRect">
            <a:avLst/>
          </a:prstGeom>
          <a:solidFill>
            <a:srgbClr val="161B22"/>
          </a:solidFill>
          <a:ln w="6350">
            <a:solidFill>
              <a:srgbClr val="3333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281160" y="2011680"/>
            <a:ext cx="2286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000" b="0">
                <a:solidFill>
                  <a:srgbClr val="F0F0F0"/>
                </a:solidFill>
                <a:latin typeface="Microsoft YaHei"/>
              </a:defRPr>
            </a:pPr>
            <a:r>
              <a:t>💀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281160" y="2560320"/>
            <a:ext cx="2286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200" b="1">
                <a:solidFill>
                  <a:srgbClr val="8B5CCF"/>
                </a:solidFill>
                <a:latin typeface="Microsoft YaHei"/>
              </a:defRPr>
            </a:pPr>
            <a:r>
              <a:t>Necrons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281160" y="3108960"/>
            <a:ext cx="22860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BBBBBB"/>
                </a:solidFill>
                <a:latin typeface="Microsoft YaHei"/>
              </a:defRPr>
            </a:pPr>
            <a:r>
              <a:t>"I choose Necrons because</a:t>
            </a:r>
            <a:br/>
            <a:r>
              <a:t>immortal robots are cool!"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1828800" y="5120640"/>
            <a:ext cx="8229600" cy="1371600"/>
          </a:xfrm>
          <a:prstGeom prst="roundRect">
            <a:avLst/>
          </a:prstGeom>
          <a:solidFill>
            <a:srgbClr val="161B22"/>
          </a:solidFill>
          <a:ln w="6350">
            <a:solidFill>
              <a:srgbClr val="3333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2286000" y="5212080"/>
            <a:ext cx="7498079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2000" b="1">
                <a:solidFill>
                  <a:srgbClr val="CFA33B"/>
                </a:solidFill>
                <a:latin typeface="Microsoft YaHei"/>
              </a:defRPr>
            </a:pPr>
            <a:r>
              <a:t>Useful Sentence Patterns · 实用句型</a:t>
            </a:r>
          </a:p>
          <a:p>
            <a:pPr>
              <a:spcAft>
                <a:spcPts val="800"/>
              </a:spcAft>
              <a:defRPr sz="1600" b="0">
                <a:solidFill>
                  <a:srgbClr val="F0F0F0"/>
                </a:solidFill>
                <a:latin typeface="Microsoft YaHei"/>
              </a:defRPr>
            </a:pPr>
            <a:r>
              <a:t>I choose [faction] because they are [adjective].  ·  If I were a [character], I would [action].  ·  My favorite faction is [name] because [reason].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0E1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45720"/>
          </a:xfrm>
          <a:prstGeom prst="rect">
            <a:avLst/>
          </a:prstGeom>
          <a:solidFill>
            <a:srgbClr val="CFA3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731520"/>
            <a:ext cx="100584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400" b="1">
                <a:solidFill>
                  <a:srgbClr val="CFA33B"/>
                </a:solidFill>
                <a:latin typeface="Microsoft YaHei"/>
              </a:defRPr>
            </a:pPr>
            <a:r>
              <a:t>Homework &amp; See You Next Time!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57200" y="2286000"/>
            <a:ext cx="2651760" cy="2743200"/>
          </a:xfrm>
          <a:prstGeom prst="roundRect">
            <a:avLst/>
          </a:prstGeom>
          <a:solidFill>
            <a:srgbClr val="161B22"/>
          </a:solidFill>
          <a:ln w="6350">
            <a:solidFill>
              <a:srgbClr val="3333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2468880"/>
            <a:ext cx="2286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200" b="1">
                <a:solidFill>
                  <a:srgbClr val="CFA33B"/>
                </a:solidFill>
                <a:latin typeface="Microsoft YaHei"/>
              </a:defRPr>
            </a:pPr>
            <a:r>
              <a:t>📝  Vocabulary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3108960"/>
            <a:ext cx="22860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0">
                <a:solidFill>
                  <a:srgbClr val="BBBBBB"/>
                </a:solidFill>
                <a:latin typeface="Microsoft YaHei"/>
              </a:defRPr>
            </a:pPr>
            <a:r>
              <a:t>Choose 10 new words.</a:t>
            </a:r>
            <a:br/>
            <a:r>
              <a:t>Write one sentence for each.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3337560" y="2286000"/>
            <a:ext cx="2651760" cy="2743200"/>
          </a:xfrm>
          <a:prstGeom prst="roundRect">
            <a:avLst/>
          </a:prstGeom>
          <a:solidFill>
            <a:srgbClr val="161B22"/>
          </a:solidFill>
          <a:ln w="6350">
            <a:solidFill>
              <a:srgbClr val="3333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520440" y="2468880"/>
            <a:ext cx="2286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200" b="1">
                <a:solidFill>
                  <a:srgbClr val="CFA33B"/>
                </a:solidFill>
                <a:latin typeface="Microsoft YaHei"/>
              </a:defRPr>
            </a:pPr>
            <a:r>
              <a:t>🔍  Research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520440" y="3108960"/>
            <a:ext cx="22860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0">
                <a:solidFill>
                  <a:srgbClr val="BBBBBB"/>
                </a:solidFill>
                <a:latin typeface="Microsoft YaHei"/>
              </a:defRPr>
            </a:pPr>
            <a:r>
              <a:t>Learn more about your</a:t>
            </a:r>
            <a:br/>
            <a:r>
              <a:t>favorite faction online.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17920" y="2286000"/>
            <a:ext cx="2651760" cy="2743200"/>
          </a:xfrm>
          <a:prstGeom prst="roundRect">
            <a:avLst/>
          </a:prstGeom>
          <a:solidFill>
            <a:srgbClr val="161B22"/>
          </a:solidFill>
          <a:ln w="6350">
            <a:solidFill>
              <a:srgbClr val="3333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400800" y="2468880"/>
            <a:ext cx="2286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200" b="1">
                <a:solidFill>
                  <a:srgbClr val="CFA33B"/>
                </a:solidFill>
                <a:latin typeface="Microsoft YaHei"/>
              </a:defRPr>
            </a:pPr>
            <a:r>
              <a:t>✏️  Creative Writing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00800" y="3108960"/>
            <a:ext cx="22860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0">
                <a:solidFill>
                  <a:srgbClr val="BBBBBB"/>
                </a:solidFill>
                <a:latin typeface="Microsoft YaHei"/>
              </a:defRPr>
            </a:pPr>
            <a:r>
              <a:t>Write a short sci-fi story</a:t>
            </a:r>
            <a:br/>
            <a:r>
              <a:t>(80-100 words).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9098280" y="2286000"/>
            <a:ext cx="2651760" cy="2743200"/>
          </a:xfrm>
          <a:prstGeom prst="roundRect">
            <a:avLst/>
          </a:prstGeom>
          <a:solidFill>
            <a:srgbClr val="161B22"/>
          </a:solidFill>
          <a:ln w="6350">
            <a:solidFill>
              <a:srgbClr val="3333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281160" y="2468880"/>
            <a:ext cx="2286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200" b="1">
                <a:solidFill>
                  <a:srgbClr val="CFA33B"/>
                </a:solidFill>
                <a:latin typeface="Microsoft YaHei"/>
              </a:defRPr>
            </a:pPr>
            <a:r>
              <a:t>🎨  Art + English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281160" y="3108960"/>
            <a:ext cx="22860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0">
                <a:solidFill>
                  <a:srgbClr val="BBBBBB"/>
                </a:solidFill>
                <a:latin typeface="Microsoft YaHei"/>
              </a:defRPr>
            </a:pPr>
            <a:r>
              <a:t>Draw your own 40K character.</a:t>
            </a:r>
            <a:br/>
            <a:r>
              <a:t>Label the parts in English.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828800" y="5669280"/>
            <a:ext cx="8229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0">
                <a:solidFill>
                  <a:srgbClr val="3BBFBF"/>
                </a:solidFill>
                <a:latin typeface="Microsoft YaHei"/>
              </a:defRPr>
            </a:pPr>
            <a:r>
              <a:t>"In the grim darkness of the far future, there is only war... and English homework!" 😄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